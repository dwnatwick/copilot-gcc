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9" r:id="rId7"/>
    <p:sldId id="270" r:id="rId8"/>
    <p:sldId id="261" r:id="rId9"/>
    <p:sldId id="262" r:id="rId10"/>
    <p:sldId id="263" r:id="rId11"/>
    <p:sldId id="264" r:id="rId12"/>
    <p:sldId id="265" r:id="rId13"/>
    <p:sldId id="266" r:id="rId14"/>
    <p:sldId id="267" r:id="rId15"/>
    <p:sldId id="268"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B61A54-BE67-45CA-BE10-5065C86BBCA1}" v="1" dt="2026-08-18T15:35:05.7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1" d="100"/>
          <a:sy n="121" d="100"/>
        </p:scale>
        <p:origin x="10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wayne Natwick" userId="1b0dde20-a9d8-43c2-bf65-7bd67e9bfd33" providerId="ADAL" clId="{AABC0D3D-5612-4062-8032-A0A82921A108}"/>
    <pc:docChg chg="custSel mod addSld modSld sldOrd addMainMaster delMainMaster modMainMaster modNotesMaster setSldSz">
      <pc:chgData name="Dwayne Natwick" userId="1b0dde20-a9d8-43c2-bf65-7bd67e9bfd33" providerId="ADAL" clId="{AABC0D3D-5612-4062-8032-A0A82921A108}" dt="2026-08-18T15:35:43.130" v="8"/>
      <pc:docMkLst>
        <pc:docMk/>
      </pc:docMkLst>
      <pc:sldChg chg="add">
        <pc:chgData name="Dwayne Natwick" userId="1b0dde20-a9d8-43c2-bf65-7bd67e9bfd33" providerId="ADAL" clId="{AABC0D3D-5612-4062-8032-A0A82921A108}" dt="2026-08-13T15:25:01.516" v="1" actId="26606"/>
        <pc:sldMkLst>
          <pc:docMk/>
          <pc:sldMk cId="0" sldId="256"/>
        </pc:sldMkLst>
      </pc:sldChg>
      <pc:sldChg chg="add">
        <pc:chgData name="Dwayne Natwick" userId="1b0dde20-a9d8-43c2-bf65-7bd67e9bfd33" providerId="ADAL" clId="{AABC0D3D-5612-4062-8032-A0A82921A108}" dt="2026-08-13T15:25:01.516" v="1" actId="26606"/>
        <pc:sldMkLst>
          <pc:docMk/>
          <pc:sldMk cId="0" sldId="257"/>
        </pc:sldMkLst>
      </pc:sldChg>
      <pc:sldChg chg="add">
        <pc:chgData name="Dwayne Natwick" userId="1b0dde20-a9d8-43c2-bf65-7bd67e9bfd33" providerId="ADAL" clId="{AABC0D3D-5612-4062-8032-A0A82921A108}" dt="2026-08-13T15:25:01.516" v="1" actId="26606"/>
        <pc:sldMkLst>
          <pc:docMk/>
          <pc:sldMk cId="0" sldId="258"/>
        </pc:sldMkLst>
      </pc:sldChg>
      <pc:sldChg chg="add">
        <pc:chgData name="Dwayne Natwick" userId="1b0dde20-a9d8-43c2-bf65-7bd67e9bfd33" providerId="ADAL" clId="{AABC0D3D-5612-4062-8032-A0A82921A108}" dt="2026-08-13T15:25:01.516" v="1" actId="26606"/>
        <pc:sldMkLst>
          <pc:docMk/>
          <pc:sldMk cId="0" sldId="259"/>
        </pc:sldMkLst>
      </pc:sldChg>
      <pc:sldChg chg="add ord">
        <pc:chgData name="Dwayne Natwick" userId="1b0dde20-a9d8-43c2-bf65-7bd67e9bfd33" providerId="ADAL" clId="{AABC0D3D-5612-4062-8032-A0A82921A108}" dt="2026-08-18T15:35:43.130" v="8"/>
        <pc:sldMkLst>
          <pc:docMk/>
          <pc:sldMk cId="0" sldId="260"/>
        </pc:sldMkLst>
      </pc:sldChg>
      <pc:sldChg chg="add">
        <pc:chgData name="Dwayne Natwick" userId="1b0dde20-a9d8-43c2-bf65-7bd67e9bfd33" providerId="ADAL" clId="{AABC0D3D-5612-4062-8032-A0A82921A108}" dt="2026-08-13T15:25:01.516" v="1" actId="26606"/>
        <pc:sldMkLst>
          <pc:docMk/>
          <pc:sldMk cId="0" sldId="261"/>
        </pc:sldMkLst>
      </pc:sldChg>
      <pc:sldChg chg="add">
        <pc:chgData name="Dwayne Natwick" userId="1b0dde20-a9d8-43c2-bf65-7bd67e9bfd33" providerId="ADAL" clId="{AABC0D3D-5612-4062-8032-A0A82921A108}" dt="2026-08-13T15:25:01.516" v="1" actId="26606"/>
        <pc:sldMkLst>
          <pc:docMk/>
          <pc:sldMk cId="0" sldId="262"/>
        </pc:sldMkLst>
      </pc:sldChg>
      <pc:sldChg chg="add">
        <pc:chgData name="Dwayne Natwick" userId="1b0dde20-a9d8-43c2-bf65-7bd67e9bfd33" providerId="ADAL" clId="{AABC0D3D-5612-4062-8032-A0A82921A108}" dt="2026-08-13T15:25:01.516" v="1" actId="26606"/>
        <pc:sldMkLst>
          <pc:docMk/>
          <pc:sldMk cId="0" sldId="263"/>
        </pc:sldMkLst>
      </pc:sldChg>
      <pc:sldChg chg="add">
        <pc:chgData name="Dwayne Natwick" userId="1b0dde20-a9d8-43c2-bf65-7bd67e9bfd33" providerId="ADAL" clId="{AABC0D3D-5612-4062-8032-A0A82921A108}" dt="2026-08-13T15:25:01.516" v="1" actId="26606"/>
        <pc:sldMkLst>
          <pc:docMk/>
          <pc:sldMk cId="0" sldId="264"/>
        </pc:sldMkLst>
      </pc:sldChg>
      <pc:sldChg chg="add">
        <pc:chgData name="Dwayne Natwick" userId="1b0dde20-a9d8-43c2-bf65-7bd67e9bfd33" providerId="ADAL" clId="{AABC0D3D-5612-4062-8032-A0A82921A108}" dt="2026-08-13T15:25:01.516" v="1" actId="26606"/>
        <pc:sldMkLst>
          <pc:docMk/>
          <pc:sldMk cId="0" sldId="265"/>
        </pc:sldMkLst>
      </pc:sldChg>
      <pc:sldChg chg="add">
        <pc:chgData name="Dwayne Natwick" userId="1b0dde20-a9d8-43c2-bf65-7bd67e9bfd33" providerId="ADAL" clId="{AABC0D3D-5612-4062-8032-A0A82921A108}" dt="2026-08-13T15:25:01.516" v="1" actId="26606"/>
        <pc:sldMkLst>
          <pc:docMk/>
          <pc:sldMk cId="0" sldId="266"/>
        </pc:sldMkLst>
      </pc:sldChg>
      <pc:sldChg chg="add">
        <pc:chgData name="Dwayne Natwick" userId="1b0dde20-a9d8-43c2-bf65-7bd67e9bfd33" providerId="ADAL" clId="{AABC0D3D-5612-4062-8032-A0A82921A108}" dt="2026-08-13T15:25:01.516" v="1" actId="26606"/>
        <pc:sldMkLst>
          <pc:docMk/>
          <pc:sldMk cId="0" sldId="267"/>
        </pc:sldMkLst>
      </pc:sldChg>
      <pc:sldChg chg="add">
        <pc:chgData name="Dwayne Natwick" userId="1b0dde20-a9d8-43c2-bf65-7bd67e9bfd33" providerId="ADAL" clId="{AABC0D3D-5612-4062-8032-A0A82921A108}" dt="2026-08-13T15:25:01.516" v="1" actId="26606"/>
        <pc:sldMkLst>
          <pc:docMk/>
          <pc:sldMk cId="0" sldId="268"/>
        </pc:sldMkLst>
      </pc:sldChg>
      <pc:sldChg chg="add">
        <pc:chgData name="Dwayne Natwick" userId="1b0dde20-a9d8-43c2-bf65-7bd67e9bfd33" providerId="ADAL" clId="{AABC0D3D-5612-4062-8032-A0A82921A108}" dt="2026-08-18T15:35:05.768" v="2"/>
        <pc:sldMkLst>
          <pc:docMk/>
          <pc:sldMk cId="3089443346" sldId="269"/>
        </pc:sldMkLst>
      </pc:sldChg>
      <pc:sldChg chg="modSp add mod">
        <pc:chgData name="Dwayne Natwick" userId="1b0dde20-a9d8-43c2-bf65-7bd67e9bfd33" providerId="ADAL" clId="{AABC0D3D-5612-4062-8032-A0A82921A108}" dt="2026-08-18T15:35:37.290" v="6" actId="1076"/>
        <pc:sldMkLst>
          <pc:docMk/>
          <pc:sldMk cId="649061408" sldId="270"/>
        </pc:sldMkLst>
        <pc:spChg chg="mod">
          <ac:chgData name="Dwayne Natwick" userId="1b0dde20-a9d8-43c2-bf65-7bd67e9bfd33" providerId="ADAL" clId="{AABC0D3D-5612-4062-8032-A0A82921A108}" dt="2026-08-18T15:35:37.290" v="6" actId="1076"/>
          <ac:spMkLst>
            <pc:docMk/>
            <pc:sldMk cId="649061408" sldId="270"/>
            <ac:spMk id="7" creationId="{3CD8BE3F-AAB3-1C95-9805-20A57474681E}"/>
          </ac:spMkLst>
        </pc:spChg>
      </pc:sldChg>
      <pc:sldMasterChg chg="add addSldLayout delSldLayout modSldLayout sldLayoutOrd">
        <pc:chgData name="Dwayne Natwick" userId="1b0dde20-a9d8-43c2-bf65-7bd67e9bfd33" providerId="ADAL" clId="{AABC0D3D-5612-4062-8032-A0A82921A108}" dt="2026-08-13T15:25:01.516" v="1" actId="26606"/>
        <pc:sldMasterMkLst>
          <pc:docMk/>
          <pc:sldMasterMk cId="3392292961" sldId="2147483648"/>
        </pc:sldMasterMkLst>
        <pc:sldLayoutChg chg="add">
          <pc:chgData name="Dwayne Natwick" userId="1b0dde20-a9d8-43c2-bf65-7bd67e9bfd33" providerId="ADAL" clId="{AABC0D3D-5612-4062-8032-A0A82921A108}" dt="2026-08-13T15:25:01.516" v="1" actId="26606"/>
          <pc:sldLayoutMkLst>
            <pc:docMk/>
            <pc:sldMasterMk cId="3392292961" sldId="2147483648"/>
            <pc:sldLayoutMk cId="0" sldId="2147483649"/>
          </pc:sldLayoutMkLst>
        </pc:sldLayoutChg>
        <pc:sldLayoutChg chg="add">
          <pc:chgData name="Dwayne Natwick" userId="1b0dde20-a9d8-43c2-bf65-7bd67e9bfd33" providerId="ADAL" clId="{AABC0D3D-5612-4062-8032-A0A82921A108}" dt="2026-08-13T15:25:01.516" v="1" actId="26606"/>
          <pc:sldLayoutMkLst>
            <pc:docMk/>
            <pc:sldMasterMk cId="3392292961" sldId="2147483648"/>
            <pc:sldLayoutMk cId="0" sldId="2147483650"/>
          </pc:sldLayoutMkLst>
        </pc:sldLayoutChg>
        <pc:sldLayoutChg chg="add">
          <pc:chgData name="Dwayne Natwick" userId="1b0dde20-a9d8-43c2-bf65-7bd67e9bfd33" providerId="ADAL" clId="{AABC0D3D-5612-4062-8032-A0A82921A108}" dt="2026-08-13T15:25:01.516" v="1" actId="26606"/>
          <pc:sldLayoutMkLst>
            <pc:docMk/>
            <pc:sldMasterMk cId="3392292961" sldId="2147483648"/>
            <pc:sldLayoutMk cId="0" sldId="214748365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sng" strike="noStrike" dirty="0">
                <a:solidFill>
                  <a:srgbClr val="000000"/>
                </a:solidFill>
                <a:effectLst/>
                <a:highlight>
                  <a:srgbClr val="F5F5F5"/>
                </a:highlight>
                <a:latin typeface="Aptos" panose="020B0004020202020204" pitchFamily="34" charset="0"/>
              </a:rPr>
              <a:t>Trainer Notes:</a:t>
            </a:r>
          </a:p>
          <a:p>
            <a:pPr algn="l"/>
            <a:endParaRPr lang="en-US" b="0" i="0" dirty="0">
              <a:solidFill>
                <a:srgbClr val="E6E6E6"/>
              </a:solidFill>
              <a:effectLst/>
              <a:latin typeface="Segoe UI" panose="020B0502040204020203" pitchFamily="34" charset="0"/>
            </a:endParaRPr>
          </a:p>
          <a:p>
            <a:pPr algn="l"/>
            <a:r>
              <a:rPr lang="en-US" b="0" i="0" dirty="0">
                <a:solidFill>
                  <a:srgbClr val="E6E6E6"/>
                </a:solidFill>
                <a:effectLst/>
                <a:latin typeface="Segoe UI" panose="020B0502040204020203" pitchFamily="34" charset="0"/>
              </a:rPr>
              <a:t>Important: </a:t>
            </a:r>
            <a:r>
              <a:rPr lang="en-US" b="0" i="0" dirty="0">
                <a:solidFill>
                  <a:srgbClr val="ECECEC"/>
                </a:solidFill>
                <a:effectLst/>
                <a:highlight>
                  <a:srgbClr val="212121"/>
                </a:highlight>
                <a:latin typeface="Söhne"/>
              </a:rPr>
              <a:t>This slide includes 'start on click' animations. The prompts under goal, context, sources, expectations, and the final prompt will not appear until you click. This feature enables you to discuss each aspect of the prompt structure individually.</a:t>
            </a:r>
          </a:p>
          <a:p>
            <a:pPr algn="l"/>
            <a:endParaRPr lang="en-US" b="0" i="0" dirty="0">
              <a:solidFill>
                <a:srgbClr val="E6E6E6"/>
              </a:solidFill>
              <a:effectLst/>
              <a:latin typeface="Segoe UI" panose="020B0502040204020203" pitchFamily="34" charset="0"/>
            </a:endParaRPr>
          </a:p>
          <a:p>
            <a:pPr algn="l"/>
            <a:r>
              <a:rPr lang="en-US" b="0" i="0" dirty="0">
                <a:solidFill>
                  <a:srgbClr val="E6E6E6"/>
                </a:solidFill>
                <a:effectLst/>
                <a:latin typeface="Segoe UI" panose="020B0502040204020203" pitchFamily="34" charset="0"/>
              </a:rPr>
              <a:t>The above slide is an example of a prompt someone may use during a meeting. </a:t>
            </a:r>
          </a:p>
          <a:p>
            <a:pPr algn="l"/>
            <a:endParaRPr lang="en-US" b="0" i="0" dirty="0">
              <a:solidFill>
                <a:srgbClr val="E6E6E6"/>
              </a:solidFill>
              <a:effectLst/>
              <a:latin typeface="Segoe UI" panose="020B0502040204020203" pitchFamily="34" charset="0"/>
            </a:endParaRPr>
          </a:p>
          <a:p>
            <a:pPr algn="l"/>
            <a:r>
              <a:rPr lang="en-US" dirty="0"/>
              <a:t>To demo team's functionality, try the following:</a:t>
            </a:r>
            <a:br>
              <a:rPr lang="en-US" dirty="0"/>
            </a:br>
            <a:endParaRPr lang="en-US" dirty="0"/>
          </a:p>
          <a:p>
            <a:pPr marL="171450" indent="-171450" algn="l">
              <a:buFontTx/>
              <a:buChar char="-"/>
            </a:pPr>
            <a:r>
              <a:rPr lang="en-US" dirty="0"/>
              <a:t>In teams, select “chat”</a:t>
            </a:r>
          </a:p>
          <a:p>
            <a:pPr marL="171450" indent="-171450" algn="l">
              <a:buFontTx/>
              <a:buChar char="-"/>
            </a:pPr>
            <a:r>
              <a:rPr lang="en-US" dirty="0"/>
              <a:t>Select “Copilot”</a:t>
            </a:r>
          </a:p>
          <a:p>
            <a:pPr marL="171450" indent="-171450" algn="l">
              <a:buFontTx/>
              <a:buChar char="-"/>
            </a:pPr>
            <a:r>
              <a:rPr lang="en-US" dirty="0"/>
              <a:t>Try the prompt “Recap my last meeting” (goal) – this prompt will recap the last meeting that was on your calendar.</a:t>
            </a:r>
          </a:p>
          <a:p>
            <a:pPr marL="384432" lvl="1" indent="-171450" algn="l">
              <a:buFontTx/>
              <a:buChar char="-"/>
            </a:pPr>
            <a:r>
              <a:rPr lang="en-US" dirty="0"/>
              <a:t>You can add further context, sources, and set expectations to get more out of copilot. For example, “Recap the meeting from yesterday, {add meeting subject}. I was unable to join and need a brief overview of my action items. Include the project timeline in a table.”</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2800"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2800" dirty="0"/>
              <a:t>https://learn.microsoft.com/training/modules/executives-guide-to-crafting-prompts</a:t>
            </a:r>
            <a:endParaRPr lang="en-US" sz="2800" b="0" i="0" dirty="0">
              <a:solidFill>
                <a:srgbClr val="E6E6E6"/>
              </a:solidFill>
              <a:effectLst/>
              <a:highlight>
                <a:srgbClr val="171717"/>
              </a:highlight>
              <a:latin typeface="Segoe UI" panose="020B0502040204020203" pitchFamily="34" charset="0"/>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8/18/2026 11:35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30041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2800" b="1" i="0" u="sng" strike="noStrike" dirty="0">
                <a:solidFill>
                  <a:srgbClr val="000000"/>
                </a:solidFill>
                <a:effectLst/>
                <a:highlight>
                  <a:srgbClr val="F5F5F5"/>
                </a:highlight>
                <a:latin typeface="Aptos" panose="020B0004020202020204" pitchFamily="34" charset="0"/>
              </a:rPr>
              <a:t>Trainer Notes:</a:t>
            </a:r>
          </a:p>
          <a:p>
            <a:pPr algn="l"/>
            <a:br>
              <a:rPr lang="en-US" sz="2800" b="0" i="0" dirty="0">
                <a:solidFill>
                  <a:srgbClr val="333333"/>
                </a:solidFill>
                <a:effectLst/>
                <a:highlight>
                  <a:srgbClr val="FFFFFF"/>
                </a:highlight>
                <a:latin typeface="SegoeUI"/>
              </a:rPr>
            </a:br>
            <a:r>
              <a:rPr lang="en-US" sz="2800" b="0" i="0" dirty="0">
                <a:solidFill>
                  <a:srgbClr val="333333"/>
                </a:solidFill>
                <a:effectLst/>
                <a:highlight>
                  <a:srgbClr val="FFFFFF"/>
                </a:highlight>
                <a:latin typeface="SegoeUI"/>
              </a:rPr>
              <a:t>The Copilot Prompt Gallery helps users get started with the art of prompting and helps organizations with onboarding and adoption by providing a single experience that meets Copilot users where they are in their journey. The Copilot Prompt Gallery isn’t just prompts, it’s a library of comprehensive learning resource that helps everyone begin their Copilot journey with confidence and take advantage of Copilot in their daily work.  </a:t>
            </a:r>
          </a:p>
          <a:p>
            <a:pPr algn="l"/>
            <a:endParaRPr lang="en-US" sz="2800" b="0" i="0" dirty="0">
              <a:solidFill>
                <a:srgbClr val="333333"/>
              </a:solidFill>
              <a:effectLst/>
              <a:highlight>
                <a:srgbClr val="FFFFFF"/>
              </a:highlight>
              <a:latin typeface="SegoeUI"/>
            </a:endParaRPr>
          </a:p>
          <a:p>
            <a:r>
              <a:rPr lang="en-US" sz="4000" b="0" dirty="0">
                <a:solidFill>
                  <a:srgbClr val="D4D4D4"/>
                </a:solidFill>
                <a:effectLst/>
                <a:highlight>
                  <a:srgbClr val="1E1E1E"/>
                </a:highlight>
                <a:latin typeface="Consolas" panose="020B0609020204030204" pitchFamily="49" charset="0"/>
              </a:rPr>
              <a:t>It consolidates our best resources - including training videos, ready-made prompts, and inspiration drawn from our internal best practices, insights from early adopters, findings from the Microsoft Research team, and thought leadership. This consolidation makes Copilot Lab your comprehensive guide to starting with generative AI.</a:t>
            </a:r>
          </a:p>
          <a:p>
            <a:pPr algn="l"/>
            <a:endParaRPr lang="en-US" sz="2800" b="0" i="0" dirty="0">
              <a:solidFill>
                <a:srgbClr val="333333"/>
              </a:solidFill>
              <a:effectLst/>
              <a:highlight>
                <a:srgbClr val="FFFFFF"/>
              </a:highlight>
              <a:latin typeface="SegoeUI"/>
            </a:endParaRPr>
          </a:p>
          <a:p>
            <a:pPr algn="l"/>
            <a:r>
              <a:rPr lang="en-US" sz="2800" b="0" i="0" dirty="0">
                <a:solidFill>
                  <a:srgbClr val="333333"/>
                </a:solidFill>
                <a:effectLst/>
                <a:highlight>
                  <a:srgbClr val="FFFFFF"/>
                </a:highlight>
                <a:latin typeface="SegoeUI"/>
              </a:rPr>
              <a:t>The Copilot Prompt Gallery shows up in </a:t>
            </a:r>
            <a:r>
              <a:rPr kumimoji="0" lang="en-US" sz="2800" b="0" i="0" u="none" strike="noStrike" kern="1200" cap="none" spc="0" normalizeH="0" baseline="0" noProof="0" dirty="0">
                <a:ln w="3175">
                  <a:noFill/>
                </a:ln>
                <a:solidFill>
                  <a:srgbClr val="000000"/>
                </a:solidFill>
                <a:effectLst/>
                <a:uLnTx/>
                <a:uFillTx/>
                <a:latin typeface="Segoe UI Semibold"/>
                <a:ea typeface="+mn-ea"/>
                <a:cs typeface="Segoe UI Semibold" panose="020B0502040204020203" pitchFamily="34" charset="0"/>
              </a:rPr>
              <a:t>Microsoft 365 Copilot</a:t>
            </a:r>
            <a:r>
              <a:rPr lang="en-US" sz="2800" b="0" i="0" dirty="0">
                <a:solidFill>
                  <a:srgbClr val="333333"/>
                </a:solidFill>
                <a:effectLst/>
                <a:highlight>
                  <a:srgbClr val="FFFFFF"/>
                </a:highlight>
                <a:latin typeface="SegoeUI"/>
              </a:rPr>
              <a:t>, Word, PowerPoint, Excel, and OneNote via the small notebook icon that suggests relevant prompts to inspire you. </a:t>
            </a:r>
          </a:p>
          <a:p>
            <a:pPr algn="l"/>
            <a:endParaRPr lang="en-US" sz="2800" b="0" i="0" dirty="0">
              <a:solidFill>
                <a:srgbClr val="333333"/>
              </a:solidFill>
              <a:effectLst/>
              <a:highlight>
                <a:srgbClr val="FFFFFF"/>
              </a:highlight>
              <a:latin typeface="SegoeUI"/>
            </a:endParaRPr>
          </a:p>
          <a:p>
            <a:pPr algn="l"/>
            <a:r>
              <a:rPr lang="en-US" sz="1800" b="0" i="0" dirty="0">
                <a:solidFill>
                  <a:srgbClr val="E6E6E6"/>
                </a:solidFill>
                <a:effectLst/>
                <a:highlight>
                  <a:srgbClr val="171717"/>
                </a:highlight>
                <a:latin typeface="Segoe UI" panose="020B0502040204020203" pitchFamily="34" charset="0"/>
              </a:rPr>
              <a:t>https://learn.microsoft.com/training/modules/executives-guide-to-crafting-prompts/3-explore-copilot-lab</a:t>
            </a:r>
            <a:endParaRPr lang="en-US" sz="2800" b="0" i="0" dirty="0">
              <a:solidFill>
                <a:srgbClr val="E6E6E6"/>
              </a:solidFill>
              <a:effectLst/>
              <a:highlight>
                <a:srgbClr val="171717"/>
              </a:highlight>
              <a:latin typeface="Segoe UI" panose="020B0502040204020203" pitchFamily="34" charset="0"/>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8/18/2026 11:35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5968252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00A3E0"/>
          </a:solidFill>
          <a:ln/>
        </p:spPr>
        <p:txBody>
          <a:bodyPr/>
          <a:lstStyle/>
          <a:p>
            <a:endParaRPr lang="en-US"/>
          </a:p>
        </p:txBody>
      </p:sp>
      <p:sp>
        <p:nvSpPr>
          <p:cNvPr id="3" name="Text 1"/>
          <p:cNvSpPr>
            <a:spLocks noGrp="1"/>
          </p:cNvSpPr>
          <p:nvPr>
            <p:ph type="title" idx="101" hasCustomPrompt="1"/>
          </p:nvPr>
        </p:nvSpPr>
        <p:spPr>
          <a:xfrm>
            <a:off x="640080" y="1737360"/>
            <a:ext cx="7863840" cy="109728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00A3E0"/>
          </a:solidFill>
          <a:ln/>
        </p:spPr>
      </p:sp>
      <p:sp>
        <p:nvSpPr>
          <p:cNvPr id="3" name="Text 1"/>
          <p:cNvSpPr>
            <a:spLocks noGrp="1"/>
          </p:cNvSpPr>
          <p:nvPr>
            <p:ph type="title" idx="101" hasCustomPrompt="1"/>
          </p:nvPr>
        </p:nvSpPr>
        <p:spPr>
          <a:xfrm>
            <a:off x="548640" y="347472"/>
            <a:ext cx="8046720" cy="64008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Footer Placeholder 25">
            <a:extLst>
              <a:ext uri="{FF2B5EF4-FFF2-40B4-BE49-F238E27FC236}">
                <a16:creationId xmlns:a16="http://schemas.microsoft.com/office/drawing/2014/main" id="{3445F887-7367-ED9F-57E1-C9A93FA1D86D}"/>
              </a:ext>
            </a:extLst>
          </p:cNvPr>
          <p:cNvSpPr>
            <a:spLocks noGrp="1"/>
          </p:cNvSpPr>
          <p:nvPr>
            <p:ph type="ftr" sz="quarter" idx="4294967295"/>
          </p:nvPr>
        </p:nvSpPr>
        <p:spPr>
          <a:xfrm>
            <a:off x="438150" y="4816078"/>
            <a:ext cx="3113485" cy="147638"/>
          </a:xfrm>
          <a:prstGeom prst="rect">
            <a:avLst/>
          </a:prstGeom>
        </p:spPr>
        <p:txBody>
          <a:bodyPr lIns="0"/>
          <a:lstStyle/>
          <a:p>
            <a:pPr defTabSz="685800">
              <a:defRPr/>
            </a:pPr>
            <a:r>
              <a:rPr lang="en-US" sz="750">
                <a:solidFill>
                  <a:srgbClr val="000000"/>
                </a:solidFill>
                <a:latin typeface="Segoe UI"/>
              </a:rPr>
              <a:t>© Copyright Microsoft Corporation. All rights reserved.</a:t>
            </a:r>
            <a:endParaRPr lang="en-US" sz="750" dirty="0">
              <a:solidFill>
                <a:srgbClr val="000000"/>
              </a:solidFill>
              <a:latin typeface="Segoe UI"/>
            </a:endParaRPr>
          </a:p>
        </p:txBody>
      </p:sp>
    </p:spTree>
    <p:extLst>
      <p:ext uri="{BB962C8B-B14F-4D97-AF65-F5344CB8AC3E}">
        <p14:creationId xmlns:p14="http://schemas.microsoft.com/office/powerpoint/2010/main" val="17571474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22929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aka.ms/promptgallery"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1737360"/>
            <a:ext cx="7863840" cy="1097280"/>
          </a:xfrm>
          <a:prstGeom prst="rect">
            <a:avLst/>
          </a:prstGeom>
          <a:noFill/>
          <a:ln/>
        </p:spPr>
        <p:txBody>
          <a:bodyPr wrap="square" lIns="0" tIns="0" rIns="0" bIns="0" rtlCol="0"/>
          <a:lstStyle/>
          <a:p>
            <a:pPr marL="0" indent="0">
              <a:buNone/>
            </a:pPr>
            <a:r>
              <a:rPr lang="en-US" sz="4600" b="1" dirty="0">
                <a:solidFill>
                  <a:srgbClr val="FFFFFF"/>
                </a:solidFill>
                <a:latin typeface="Segoe UI" pitchFamily="34" charset="0"/>
                <a:ea typeface="Segoe UI" pitchFamily="34" charset="-122"/>
                <a:cs typeface="Segoe UI" pitchFamily="34" charset="-120"/>
              </a:rPr>
              <a:t>Copilot Basic</a:t>
            </a:r>
            <a:endParaRPr lang="en-US" sz="4600" dirty="0"/>
          </a:p>
        </p:txBody>
      </p:sp>
      <p:sp>
        <p:nvSpPr>
          <p:cNvPr id="3" name="Text 1"/>
          <p:cNvSpPr/>
          <p:nvPr/>
        </p:nvSpPr>
        <p:spPr>
          <a:xfrm>
            <a:off x="640080" y="2788920"/>
            <a:ext cx="7863840" cy="457200"/>
          </a:xfrm>
          <a:prstGeom prst="rect">
            <a:avLst/>
          </a:prstGeom>
          <a:noFill/>
          <a:ln/>
        </p:spPr>
        <p:txBody>
          <a:bodyPr wrap="square" lIns="0" tIns="0" rIns="0" bIns="0" rtlCol="0" anchor="ctr"/>
          <a:lstStyle/>
          <a:p>
            <a:pPr marL="0" indent="0">
              <a:buNone/>
            </a:pPr>
            <a:r>
              <a:rPr lang="en-US" sz="1800" dirty="0">
                <a:solidFill>
                  <a:srgbClr val="9FD4F0"/>
                </a:solidFill>
                <a:latin typeface="Segoe UI" pitchFamily="34" charset="0"/>
                <a:ea typeface="Segoe UI" pitchFamily="34" charset="-122"/>
                <a:cs typeface="Segoe UI" pitchFamily="34" charset="-120"/>
              </a:rPr>
              <a:t>Building a foundation in Microsoft 365 Copilot</a:t>
            </a:r>
            <a:endParaRPr lang="en-US" sz="1800" dirty="0"/>
          </a:p>
        </p:txBody>
      </p:sp>
      <p:sp>
        <p:nvSpPr>
          <p:cNvPr id="4" name="rule">
            <a:extLst>
              <a:ext uri="{C183D7F6-B498-43B3-948B-1728B52AA6E4}">
                <adec:decorative xmlns:adec="http://schemas.microsoft.com/office/drawing/2017/decorative" val="1"/>
              </a:ext>
            </a:extLst>
          </p:cNvPr>
          <p:cNvSpPr/>
          <p:nvPr/>
        </p:nvSpPr>
        <p:spPr>
          <a:xfrm>
            <a:off x="640080" y="1417320"/>
            <a:ext cx="1280160" cy="54864"/>
          </a:xfrm>
          <a:prstGeom prst="rect">
            <a:avLst/>
          </a:prstGeom>
          <a:solidFill>
            <a:srgbClr val="00A3E0"/>
          </a:solidFill>
          <a:ln w="12700">
            <a:solidFill>
              <a:srgbClr val="00A3E0"/>
            </a:solidFill>
            <a:prstDash val="solid"/>
          </a:ln>
        </p:spPr>
        <p:txBody>
          <a:bodyPr/>
          <a:lstStyle/>
          <a:p>
            <a:endParaRPr lang="en-US"/>
          </a:p>
        </p:txBody>
      </p:sp>
      <p:sp>
        <p:nvSpPr>
          <p:cNvPr id="5" name="Text 3"/>
          <p:cNvSpPr/>
          <p:nvPr/>
        </p:nvSpPr>
        <p:spPr>
          <a:xfrm>
            <a:off x="640080" y="3291840"/>
            <a:ext cx="7863840" cy="365760"/>
          </a:xfrm>
          <a:prstGeom prst="rect">
            <a:avLst/>
          </a:prstGeom>
          <a:noFill/>
          <a:ln/>
        </p:spPr>
        <p:txBody>
          <a:bodyPr wrap="square" lIns="0" tIns="0" rIns="0" bIns="0" rtlCol="0" anchor="ctr"/>
          <a:lstStyle/>
          <a:p>
            <a:pPr marL="0" indent="0">
              <a:buNone/>
            </a:pPr>
            <a:r>
              <a:rPr lang="en-US" sz="1300" dirty="0">
                <a:solidFill>
                  <a:srgbClr val="C7D6E6"/>
                </a:solidFill>
                <a:latin typeface="Segoe UI" pitchFamily="34" charset="0"/>
                <a:ea typeface="Segoe UI" pitchFamily="34" charset="-122"/>
                <a:cs typeface="Segoe UI" pitchFamily="34" charset="-120"/>
              </a:rPr>
              <a:t>A nine-module course with hands-on prompts for Microsoft 365 G3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47472"/>
            <a:ext cx="8046720" cy="640080"/>
          </a:xfrm>
          <a:prstGeom prst="rect">
            <a:avLst/>
          </a:prstGeom>
          <a:noFill/>
          <a:ln/>
        </p:spPr>
        <p:txBody>
          <a:bodyPr wrap="square" lIns="0" tIns="0" rIns="0" bIns="0" rtlCol="0" anchor="ctr"/>
          <a:lstStyle/>
          <a:p>
            <a:pPr marL="0" indent="0">
              <a:buNone/>
            </a:pPr>
            <a:r>
              <a:rPr lang="en-US" sz="2800" b="1" dirty="0">
                <a:solidFill>
                  <a:srgbClr val="0B2545"/>
                </a:solidFill>
                <a:latin typeface="Segoe UI" pitchFamily="34" charset="0"/>
                <a:ea typeface="Segoe UI" pitchFamily="34" charset="-122"/>
                <a:cs typeface="Segoe UI" pitchFamily="34" charset="-120"/>
              </a:rPr>
              <a:t>Course Objective &amp; Audience</a:t>
            </a:r>
            <a:endParaRPr lang="en-US" sz="2800" dirty="0"/>
          </a:p>
        </p:txBody>
      </p:sp>
      <p:sp>
        <p:nvSpPr>
          <p:cNvPr id="3" name="rule">
            <a:extLst>
              <a:ext uri="{C183D7F6-B498-43B3-948B-1728B52AA6E4}">
                <adec:decorative xmlns:adec="http://schemas.microsoft.com/office/drawing/2017/decorative" val="1"/>
              </a:ext>
            </a:extLst>
          </p:cNvPr>
          <p:cNvSpPr/>
          <p:nvPr/>
        </p:nvSpPr>
        <p:spPr>
          <a:xfrm>
            <a:off x="548640" y="1024128"/>
            <a:ext cx="1005840" cy="41148"/>
          </a:xfrm>
          <a:prstGeom prst="rect">
            <a:avLst/>
          </a:prstGeom>
          <a:solidFill>
            <a:srgbClr val="00A3E0"/>
          </a:solidFill>
          <a:ln w="12700">
            <a:solidFill>
              <a:srgbClr val="00A3E0"/>
            </a:solidFill>
            <a:prstDash val="solid"/>
          </a:ln>
        </p:spPr>
        <p:txBody>
          <a:bodyPr/>
          <a:lstStyle/>
          <a:p>
            <a:endParaRPr lang="en-US"/>
          </a:p>
        </p:txBody>
      </p:sp>
      <p:sp>
        <p:nvSpPr>
          <p:cNvPr id="4" name="objective panel">
            <a:extLst>
              <a:ext uri="{C183D7F6-B498-43B3-948B-1728B52AA6E4}">
                <adec:decorative xmlns:adec="http://schemas.microsoft.com/office/drawing/2017/decorative" val="1"/>
              </a:ext>
            </a:extLst>
          </p:cNvPr>
          <p:cNvSpPr/>
          <p:nvPr/>
        </p:nvSpPr>
        <p:spPr>
          <a:xfrm>
            <a:off x="548640" y="1417320"/>
            <a:ext cx="8046720" cy="914400"/>
          </a:xfrm>
          <a:prstGeom prst="rect">
            <a:avLst/>
          </a:prstGeom>
          <a:solidFill>
            <a:srgbClr val="0B2545"/>
          </a:solidFill>
          <a:ln w="12700">
            <a:solidFill>
              <a:srgbClr val="0B2545"/>
            </a:solidFill>
            <a:prstDash val="solid"/>
          </a:ln>
        </p:spPr>
        <p:txBody>
          <a:bodyPr/>
          <a:lstStyle/>
          <a:p>
            <a:endParaRPr lang="en-US"/>
          </a:p>
        </p:txBody>
      </p:sp>
      <p:sp>
        <p:nvSpPr>
          <p:cNvPr id="5" name="Text 3"/>
          <p:cNvSpPr/>
          <p:nvPr/>
        </p:nvSpPr>
        <p:spPr>
          <a:xfrm>
            <a:off x="822960" y="1536192"/>
            <a:ext cx="7498080" cy="685800"/>
          </a:xfrm>
          <a:prstGeom prst="rect">
            <a:avLst/>
          </a:prstGeom>
          <a:noFill/>
          <a:ln/>
        </p:spPr>
        <p:txBody>
          <a:bodyPr wrap="square" lIns="0" tIns="0" rIns="0" bIns="0" rtlCol="0" anchor="ctr"/>
          <a:lstStyle/>
          <a:p>
            <a:pPr marL="0" indent="0">
              <a:buNone/>
            </a:pPr>
            <a:r>
              <a:rPr lang="en-US" sz="1450" dirty="0">
                <a:solidFill>
                  <a:srgbClr val="FFFFFF"/>
                </a:solidFill>
                <a:latin typeface="Segoe UI" pitchFamily="34" charset="0"/>
                <a:ea typeface="Segoe UI" pitchFamily="34" charset="-122"/>
                <a:cs typeface="Segoe UI" pitchFamily="34" charset="-120"/>
              </a:rPr>
              <a:t>Build a strong foundation in Microsoft 365 Copilot and progressively expand usage across core and extended M365 apps to improve productivity, collaboration, and decision-making.</a:t>
            </a:r>
            <a:endParaRPr lang="en-US" sz="1450" dirty="0"/>
          </a:p>
        </p:txBody>
      </p:sp>
      <p:sp>
        <p:nvSpPr>
          <p:cNvPr id="6" name="Text 4"/>
          <p:cNvSpPr/>
          <p:nvPr/>
        </p:nvSpPr>
        <p:spPr>
          <a:xfrm>
            <a:off x="548640" y="2560320"/>
            <a:ext cx="3840480" cy="274320"/>
          </a:xfrm>
          <a:prstGeom prst="rect">
            <a:avLst/>
          </a:prstGeom>
          <a:noFill/>
          <a:ln/>
        </p:spPr>
        <p:txBody>
          <a:bodyPr wrap="square" lIns="0" tIns="0" rIns="0" bIns="0" rtlCol="0" anchor="ctr"/>
          <a:lstStyle/>
          <a:p>
            <a:pPr marL="0" indent="0">
              <a:buNone/>
            </a:pPr>
            <a:r>
              <a:rPr lang="en-US" sz="1400" b="1" dirty="0">
                <a:solidFill>
                  <a:srgbClr val="1B4F9C"/>
                </a:solidFill>
                <a:latin typeface="Segoe UI" pitchFamily="34" charset="0"/>
                <a:ea typeface="Segoe UI" pitchFamily="34" charset="-122"/>
                <a:cs typeface="Segoe UI" pitchFamily="34" charset="-120"/>
              </a:rPr>
              <a:t>Who this is for</a:t>
            </a:r>
            <a:endParaRPr lang="en-US" sz="1400" dirty="0"/>
          </a:p>
        </p:txBody>
      </p:sp>
      <p:sp>
        <p:nvSpPr>
          <p:cNvPr id="7" name="Text 5"/>
          <p:cNvSpPr/>
          <p:nvPr/>
        </p:nvSpPr>
        <p:spPr>
          <a:xfrm>
            <a:off x="685800" y="2880360"/>
            <a:ext cx="3703320" cy="1280160"/>
          </a:xfrm>
          <a:prstGeom prst="rect">
            <a:avLst/>
          </a:prstGeom>
          <a:noFill/>
          <a:ln/>
        </p:spPr>
        <p:txBody>
          <a:bodyPr wrap="square" rtlCol="0" anchor="t"/>
          <a:lstStyle/>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New users of Microsoft 365 Copilot</a:t>
            </a:r>
            <a:endParaRPr lang="en-US" sz="1350" dirty="0"/>
          </a:p>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Professionals unfamiliar with AI tools</a:t>
            </a:r>
            <a:endParaRPr lang="en-US" sz="1350" dirty="0"/>
          </a:p>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Users expanding Copilot across M365</a:t>
            </a:r>
            <a:endParaRPr lang="en-US" sz="1350" dirty="0"/>
          </a:p>
        </p:txBody>
      </p:sp>
      <p:sp>
        <p:nvSpPr>
          <p:cNvPr id="8" name="Text 6"/>
          <p:cNvSpPr/>
          <p:nvPr/>
        </p:nvSpPr>
        <p:spPr>
          <a:xfrm>
            <a:off x="4754880" y="2560320"/>
            <a:ext cx="3840480" cy="274320"/>
          </a:xfrm>
          <a:prstGeom prst="rect">
            <a:avLst/>
          </a:prstGeom>
          <a:noFill/>
          <a:ln/>
        </p:spPr>
        <p:txBody>
          <a:bodyPr wrap="square" lIns="0" tIns="0" rIns="0" bIns="0" rtlCol="0" anchor="ctr"/>
          <a:lstStyle/>
          <a:p>
            <a:pPr marL="0" indent="0">
              <a:buNone/>
            </a:pPr>
            <a:r>
              <a:rPr lang="en-US" sz="1400" b="1" dirty="0">
                <a:solidFill>
                  <a:srgbClr val="1B4F9C"/>
                </a:solidFill>
                <a:latin typeface="Segoe UI" pitchFamily="34" charset="0"/>
                <a:ea typeface="Segoe UI" pitchFamily="34" charset="-122"/>
                <a:cs typeface="Segoe UI" pitchFamily="34" charset="-120"/>
              </a:rPr>
              <a:t>Prerequisites</a:t>
            </a:r>
            <a:endParaRPr lang="en-US" sz="1400" dirty="0"/>
          </a:p>
        </p:txBody>
      </p:sp>
      <p:sp>
        <p:nvSpPr>
          <p:cNvPr id="9" name="Text 7"/>
          <p:cNvSpPr/>
          <p:nvPr/>
        </p:nvSpPr>
        <p:spPr>
          <a:xfrm>
            <a:off x="4892040" y="2880360"/>
            <a:ext cx="3703320" cy="1280160"/>
          </a:xfrm>
          <a:prstGeom prst="rect">
            <a:avLst/>
          </a:prstGeom>
          <a:noFill/>
          <a:ln/>
        </p:spPr>
        <p:txBody>
          <a:bodyPr wrap="square" rtlCol="0" anchor="t"/>
          <a:lstStyle/>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Introduction to Microsoft 365 Copilot (Microsoft Learn)</a:t>
            </a:r>
            <a:endParaRPr lang="en-US" sz="1350" dirty="0"/>
          </a:p>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Recommended: familiarity with Microsoft Office apps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47472"/>
            <a:ext cx="8046720" cy="640080"/>
          </a:xfrm>
          <a:prstGeom prst="rect">
            <a:avLst/>
          </a:prstGeom>
          <a:noFill/>
          <a:ln/>
        </p:spPr>
        <p:txBody>
          <a:bodyPr wrap="square" lIns="0" tIns="0" rIns="0" bIns="0" rtlCol="0" anchor="ctr"/>
          <a:lstStyle/>
          <a:p>
            <a:pPr marL="0" indent="0">
              <a:buNone/>
            </a:pPr>
            <a:r>
              <a:rPr lang="en-US" sz="2800" b="1" dirty="0">
                <a:solidFill>
                  <a:srgbClr val="0B2545"/>
                </a:solidFill>
                <a:latin typeface="Segoe UI" pitchFamily="34" charset="0"/>
                <a:ea typeface="Segoe UI" pitchFamily="34" charset="-122"/>
                <a:cs typeface="Segoe UI" pitchFamily="34" charset="-120"/>
              </a:rPr>
              <a:t>Course Roadmap</a:t>
            </a:r>
            <a:endParaRPr lang="en-US" sz="2800" dirty="0"/>
          </a:p>
        </p:txBody>
      </p:sp>
      <p:sp>
        <p:nvSpPr>
          <p:cNvPr id="3" name="rule">
            <a:extLst>
              <a:ext uri="{C183D7F6-B498-43B3-948B-1728B52AA6E4}">
                <adec:decorative xmlns:adec="http://schemas.microsoft.com/office/drawing/2017/decorative" val="1"/>
              </a:ext>
            </a:extLst>
          </p:cNvPr>
          <p:cNvSpPr/>
          <p:nvPr/>
        </p:nvSpPr>
        <p:spPr>
          <a:xfrm>
            <a:off x="548640" y="1024128"/>
            <a:ext cx="1005840" cy="41148"/>
          </a:xfrm>
          <a:prstGeom prst="rect">
            <a:avLst/>
          </a:prstGeom>
          <a:solidFill>
            <a:srgbClr val="00A3E0"/>
          </a:solidFill>
          <a:ln w="12700">
            <a:solidFill>
              <a:srgbClr val="00A3E0"/>
            </a:solidFill>
            <a:prstDash val="solid"/>
          </a:ln>
        </p:spPr>
        <p:txBody>
          <a:bodyPr/>
          <a:lstStyle/>
          <a:p>
            <a:endParaRPr lang="en-US"/>
          </a:p>
        </p:txBody>
      </p:sp>
      <p:sp>
        <p:nvSpPr>
          <p:cNvPr id="4" name="module card">
            <a:extLst>
              <a:ext uri="{C183D7F6-B498-43B3-948B-1728B52AA6E4}">
                <adec:decorative xmlns:adec="http://schemas.microsoft.com/office/drawing/2017/decorative" val="1"/>
              </a:ext>
            </a:extLst>
          </p:cNvPr>
          <p:cNvSpPr/>
          <p:nvPr/>
        </p:nvSpPr>
        <p:spPr>
          <a:xfrm>
            <a:off x="548640" y="1554480"/>
            <a:ext cx="2514600" cy="868680"/>
          </a:xfrm>
          <a:prstGeom prst="rect">
            <a:avLst/>
          </a:prstGeom>
          <a:solidFill>
            <a:srgbClr val="F2F6FA"/>
          </a:solidFill>
          <a:ln w="12700">
            <a:solidFill>
              <a:srgbClr val="D6E3EF"/>
            </a:solidFill>
            <a:prstDash val="solid"/>
          </a:ln>
        </p:spPr>
        <p:txBody>
          <a:bodyPr/>
          <a:lstStyle/>
          <a:p>
            <a:endParaRPr lang="en-US"/>
          </a:p>
        </p:txBody>
      </p:sp>
      <p:sp>
        <p:nvSpPr>
          <p:cNvPr id="5" name="Text 3"/>
          <p:cNvSpPr/>
          <p:nvPr/>
        </p:nvSpPr>
        <p:spPr>
          <a:xfrm>
            <a:off x="685800" y="1664208"/>
            <a:ext cx="548640" cy="274320"/>
          </a:xfrm>
          <a:prstGeom prst="rect">
            <a:avLst/>
          </a:prstGeom>
          <a:noFill/>
          <a:ln/>
        </p:spPr>
        <p:txBody>
          <a:bodyPr wrap="square" lIns="0" tIns="0" rIns="0" bIns="0" rtlCol="0" anchor="ctr"/>
          <a:lstStyle/>
          <a:p>
            <a:pPr marL="0" indent="0">
              <a:buNone/>
            </a:pPr>
            <a:r>
              <a:rPr lang="en-US" sz="1500" b="1" dirty="0">
                <a:solidFill>
                  <a:srgbClr val="00A3E0"/>
                </a:solidFill>
                <a:latin typeface="Segoe UI" pitchFamily="34" charset="0"/>
                <a:ea typeface="Segoe UI" pitchFamily="34" charset="-122"/>
                <a:cs typeface="Segoe UI" pitchFamily="34" charset="-120"/>
              </a:rPr>
              <a:t>01</a:t>
            </a:r>
            <a:endParaRPr lang="en-US" sz="1500" dirty="0"/>
          </a:p>
        </p:txBody>
      </p:sp>
      <p:sp>
        <p:nvSpPr>
          <p:cNvPr id="6" name="Text 4"/>
          <p:cNvSpPr/>
          <p:nvPr/>
        </p:nvSpPr>
        <p:spPr>
          <a:xfrm>
            <a:off x="685800" y="1938528"/>
            <a:ext cx="2240280" cy="411480"/>
          </a:xfrm>
          <a:prstGeom prst="rect">
            <a:avLst/>
          </a:prstGeom>
          <a:noFill/>
          <a:ln/>
        </p:spPr>
        <p:txBody>
          <a:bodyPr wrap="square" lIns="0" tIns="0" rIns="0" bIns="0" rtlCol="0" anchor="ctr"/>
          <a:lstStyle/>
          <a:p>
            <a:pPr marL="0" indent="0">
              <a:buNone/>
            </a:pPr>
            <a:r>
              <a:rPr lang="en-US" sz="1300" b="1" dirty="0">
                <a:solidFill>
                  <a:srgbClr val="0B2545"/>
                </a:solidFill>
                <a:latin typeface="Segoe UI" pitchFamily="34" charset="0"/>
                <a:ea typeface="Segoe UI" pitchFamily="34" charset="-122"/>
                <a:cs typeface="Segoe UI" pitchFamily="34" charset="-120"/>
              </a:rPr>
              <a:t>Welcome &amp; Context</a:t>
            </a:r>
            <a:endParaRPr lang="en-US" sz="1300" dirty="0"/>
          </a:p>
        </p:txBody>
      </p:sp>
      <p:sp>
        <p:nvSpPr>
          <p:cNvPr id="7" name="module card">
            <a:extLst>
              <a:ext uri="{C183D7F6-B498-43B3-948B-1728B52AA6E4}">
                <adec:decorative xmlns:adec="http://schemas.microsoft.com/office/drawing/2017/decorative" val="1"/>
              </a:ext>
            </a:extLst>
          </p:cNvPr>
          <p:cNvSpPr/>
          <p:nvPr/>
        </p:nvSpPr>
        <p:spPr>
          <a:xfrm>
            <a:off x="3291840" y="1554480"/>
            <a:ext cx="2514600" cy="868680"/>
          </a:xfrm>
          <a:prstGeom prst="rect">
            <a:avLst/>
          </a:prstGeom>
          <a:solidFill>
            <a:srgbClr val="F2F6FA"/>
          </a:solidFill>
          <a:ln w="12700">
            <a:solidFill>
              <a:srgbClr val="D6E3EF"/>
            </a:solidFill>
            <a:prstDash val="solid"/>
          </a:ln>
        </p:spPr>
        <p:txBody>
          <a:bodyPr/>
          <a:lstStyle/>
          <a:p>
            <a:endParaRPr lang="en-US"/>
          </a:p>
        </p:txBody>
      </p:sp>
      <p:sp>
        <p:nvSpPr>
          <p:cNvPr id="8" name="Text 6"/>
          <p:cNvSpPr/>
          <p:nvPr/>
        </p:nvSpPr>
        <p:spPr>
          <a:xfrm>
            <a:off x="3429000" y="1664208"/>
            <a:ext cx="548640" cy="274320"/>
          </a:xfrm>
          <a:prstGeom prst="rect">
            <a:avLst/>
          </a:prstGeom>
          <a:noFill/>
          <a:ln/>
        </p:spPr>
        <p:txBody>
          <a:bodyPr wrap="square" lIns="0" tIns="0" rIns="0" bIns="0" rtlCol="0" anchor="ctr"/>
          <a:lstStyle/>
          <a:p>
            <a:pPr marL="0" indent="0">
              <a:buNone/>
            </a:pPr>
            <a:r>
              <a:rPr lang="en-US" sz="1500" b="1" dirty="0">
                <a:solidFill>
                  <a:srgbClr val="00A3E0"/>
                </a:solidFill>
                <a:latin typeface="Segoe UI" pitchFamily="34" charset="0"/>
                <a:ea typeface="Segoe UI" pitchFamily="34" charset="-122"/>
                <a:cs typeface="Segoe UI" pitchFamily="34" charset="-120"/>
              </a:rPr>
              <a:t>02</a:t>
            </a:r>
            <a:endParaRPr lang="en-US" sz="1500" dirty="0"/>
          </a:p>
        </p:txBody>
      </p:sp>
      <p:sp>
        <p:nvSpPr>
          <p:cNvPr id="9" name="Text 7"/>
          <p:cNvSpPr/>
          <p:nvPr/>
        </p:nvSpPr>
        <p:spPr>
          <a:xfrm>
            <a:off x="3429000" y="1938528"/>
            <a:ext cx="2240280" cy="411480"/>
          </a:xfrm>
          <a:prstGeom prst="rect">
            <a:avLst/>
          </a:prstGeom>
          <a:noFill/>
          <a:ln/>
        </p:spPr>
        <p:txBody>
          <a:bodyPr wrap="square" lIns="0" tIns="0" rIns="0" bIns="0" rtlCol="0" anchor="ctr"/>
          <a:lstStyle/>
          <a:p>
            <a:pPr marL="0" indent="0">
              <a:buNone/>
            </a:pPr>
            <a:r>
              <a:rPr lang="en-US" sz="1300" b="1" dirty="0">
                <a:solidFill>
                  <a:srgbClr val="0B2545"/>
                </a:solidFill>
                <a:latin typeface="Segoe UI" pitchFamily="34" charset="0"/>
                <a:ea typeface="Segoe UI" pitchFamily="34" charset="-122"/>
                <a:cs typeface="Segoe UI" pitchFamily="34" charset="-120"/>
              </a:rPr>
              <a:t>Building Effective Prompts</a:t>
            </a:r>
            <a:endParaRPr lang="en-US" sz="1300" dirty="0"/>
          </a:p>
        </p:txBody>
      </p:sp>
      <p:sp>
        <p:nvSpPr>
          <p:cNvPr id="10" name="module card">
            <a:extLst>
              <a:ext uri="{C183D7F6-B498-43B3-948B-1728B52AA6E4}">
                <adec:decorative xmlns:adec="http://schemas.microsoft.com/office/drawing/2017/decorative" val="1"/>
              </a:ext>
            </a:extLst>
          </p:cNvPr>
          <p:cNvSpPr/>
          <p:nvPr/>
        </p:nvSpPr>
        <p:spPr>
          <a:xfrm>
            <a:off x="6035040" y="1554480"/>
            <a:ext cx="2514600" cy="868680"/>
          </a:xfrm>
          <a:prstGeom prst="rect">
            <a:avLst/>
          </a:prstGeom>
          <a:solidFill>
            <a:srgbClr val="F2F6FA"/>
          </a:solidFill>
          <a:ln w="12700">
            <a:solidFill>
              <a:srgbClr val="D6E3EF"/>
            </a:solidFill>
            <a:prstDash val="solid"/>
          </a:ln>
        </p:spPr>
        <p:txBody>
          <a:bodyPr/>
          <a:lstStyle/>
          <a:p>
            <a:endParaRPr lang="en-US"/>
          </a:p>
        </p:txBody>
      </p:sp>
      <p:sp>
        <p:nvSpPr>
          <p:cNvPr id="11" name="Text 9"/>
          <p:cNvSpPr/>
          <p:nvPr/>
        </p:nvSpPr>
        <p:spPr>
          <a:xfrm>
            <a:off x="6172200" y="1664208"/>
            <a:ext cx="548640" cy="274320"/>
          </a:xfrm>
          <a:prstGeom prst="rect">
            <a:avLst/>
          </a:prstGeom>
          <a:noFill/>
          <a:ln/>
        </p:spPr>
        <p:txBody>
          <a:bodyPr wrap="square" lIns="0" tIns="0" rIns="0" bIns="0" rtlCol="0" anchor="ctr"/>
          <a:lstStyle/>
          <a:p>
            <a:pPr marL="0" indent="0">
              <a:buNone/>
            </a:pPr>
            <a:r>
              <a:rPr lang="en-US" sz="1500" b="1" dirty="0">
                <a:solidFill>
                  <a:srgbClr val="00A3E0"/>
                </a:solidFill>
                <a:latin typeface="Segoe UI" pitchFamily="34" charset="0"/>
                <a:ea typeface="Segoe UI" pitchFamily="34" charset="-122"/>
                <a:cs typeface="Segoe UI" pitchFamily="34" charset="-120"/>
              </a:rPr>
              <a:t>03</a:t>
            </a:r>
            <a:endParaRPr lang="en-US" sz="1500" dirty="0"/>
          </a:p>
        </p:txBody>
      </p:sp>
      <p:sp>
        <p:nvSpPr>
          <p:cNvPr id="12" name="Text 10"/>
          <p:cNvSpPr/>
          <p:nvPr/>
        </p:nvSpPr>
        <p:spPr>
          <a:xfrm>
            <a:off x="6172200" y="1938528"/>
            <a:ext cx="2240280" cy="411480"/>
          </a:xfrm>
          <a:prstGeom prst="rect">
            <a:avLst/>
          </a:prstGeom>
          <a:noFill/>
          <a:ln/>
        </p:spPr>
        <p:txBody>
          <a:bodyPr wrap="square" lIns="0" tIns="0" rIns="0" bIns="0" rtlCol="0" anchor="ctr"/>
          <a:lstStyle/>
          <a:p>
            <a:pPr marL="0" indent="0">
              <a:buNone/>
            </a:pPr>
            <a:r>
              <a:rPr lang="en-US" sz="1300" b="1" dirty="0">
                <a:solidFill>
                  <a:srgbClr val="0B2545"/>
                </a:solidFill>
                <a:latin typeface="Segoe UI" pitchFamily="34" charset="0"/>
                <a:ea typeface="Segoe UI" pitchFamily="34" charset="-122"/>
                <a:cs typeface="Segoe UI" pitchFamily="34" charset="-120"/>
              </a:rPr>
              <a:t>Outlook + Teams</a:t>
            </a:r>
            <a:endParaRPr lang="en-US" sz="1300" dirty="0"/>
          </a:p>
        </p:txBody>
      </p:sp>
      <p:sp>
        <p:nvSpPr>
          <p:cNvPr id="13" name="module card">
            <a:extLst>
              <a:ext uri="{C183D7F6-B498-43B3-948B-1728B52AA6E4}">
                <adec:decorative xmlns:adec="http://schemas.microsoft.com/office/drawing/2017/decorative" val="1"/>
              </a:ext>
            </a:extLst>
          </p:cNvPr>
          <p:cNvSpPr/>
          <p:nvPr/>
        </p:nvSpPr>
        <p:spPr>
          <a:xfrm>
            <a:off x="548640" y="2606040"/>
            <a:ext cx="2514600" cy="868680"/>
          </a:xfrm>
          <a:prstGeom prst="rect">
            <a:avLst/>
          </a:prstGeom>
          <a:solidFill>
            <a:srgbClr val="F2F6FA"/>
          </a:solidFill>
          <a:ln w="12700">
            <a:solidFill>
              <a:srgbClr val="D6E3EF"/>
            </a:solidFill>
            <a:prstDash val="solid"/>
          </a:ln>
        </p:spPr>
        <p:txBody>
          <a:bodyPr/>
          <a:lstStyle/>
          <a:p>
            <a:endParaRPr lang="en-US"/>
          </a:p>
        </p:txBody>
      </p:sp>
      <p:sp>
        <p:nvSpPr>
          <p:cNvPr id="14" name="Text 12"/>
          <p:cNvSpPr/>
          <p:nvPr/>
        </p:nvSpPr>
        <p:spPr>
          <a:xfrm>
            <a:off x="685800" y="2715768"/>
            <a:ext cx="548640" cy="274320"/>
          </a:xfrm>
          <a:prstGeom prst="rect">
            <a:avLst/>
          </a:prstGeom>
          <a:noFill/>
          <a:ln/>
        </p:spPr>
        <p:txBody>
          <a:bodyPr wrap="square" lIns="0" tIns="0" rIns="0" bIns="0" rtlCol="0" anchor="ctr"/>
          <a:lstStyle/>
          <a:p>
            <a:pPr marL="0" indent="0">
              <a:buNone/>
            </a:pPr>
            <a:r>
              <a:rPr lang="en-US" sz="1500" b="1" dirty="0">
                <a:solidFill>
                  <a:srgbClr val="00A3E0"/>
                </a:solidFill>
                <a:latin typeface="Segoe UI" pitchFamily="34" charset="0"/>
                <a:ea typeface="Segoe UI" pitchFamily="34" charset="-122"/>
                <a:cs typeface="Segoe UI" pitchFamily="34" charset="-120"/>
              </a:rPr>
              <a:t>04</a:t>
            </a:r>
            <a:endParaRPr lang="en-US" sz="1500" dirty="0"/>
          </a:p>
        </p:txBody>
      </p:sp>
      <p:sp>
        <p:nvSpPr>
          <p:cNvPr id="15" name="Text 13"/>
          <p:cNvSpPr/>
          <p:nvPr/>
        </p:nvSpPr>
        <p:spPr>
          <a:xfrm>
            <a:off x="685800" y="2990088"/>
            <a:ext cx="2240280" cy="411480"/>
          </a:xfrm>
          <a:prstGeom prst="rect">
            <a:avLst/>
          </a:prstGeom>
          <a:noFill/>
          <a:ln/>
        </p:spPr>
        <p:txBody>
          <a:bodyPr wrap="square" lIns="0" tIns="0" rIns="0" bIns="0" rtlCol="0" anchor="ctr"/>
          <a:lstStyle/>
          <a:p>
            <a:pPr marL="0" indent="0">
              <a:buNone/>
            </a:pPr>
            <a:r>
              <a:rPr lang="en-US" sz="1300" b="1" dirty="0">
                <a:solidFill>
                  <a:srgbClr val="0B2545"/>
                </a:solidFill>
                <a:latin typeface="Segoe UI" pitchFamily="34" charset="0"/>
                <a:ea typeface="Segoe UI" pitchFamily="34" charset="-122"/>
                <a:cs typeface="Segoe UI" pitchFamily="34" charset="-120"/>
              </a:rPr>
              <a:t>Word</a:t>
            </a:r>
            <a:endParaRPr lang="en-US" sz="1300" dirty="0"/>
          </a:p>
        </p:txBody>
      </p:sp>
      <p:sp>
        <p:nvSpPr>
          <p:cNvPr id="16" name="module card">
            <a:extLst>
              <a:ext uri="{C183D7F6-B498-43B3-948B-1728B52AA6E4}">
                <adec:decorative xmlns:adec="http://schemas.microsoft.com/office/drawing/2017/decorative" val="1"/>
              </a:ext>
            </a:extLst>
          </p:cNvPr>
          <p:cNvSpPr/>
          <p:nvPr/>
        </p:nvSpPr>
        <p:spPr>
          <a:xfrm>
            <a:off x="3291840" y="2606040"/>
            <a:ext cx="2514600" cy="868680"/>
          </a:xfrm>
          <a:prstGeom prst="rect">
            <a:avLst/>
          </a:prstGeom>
          <a:solidFill>
            <a:srgbClr val="F2F6FA"/>
          </a:solidFill>
          <a:ln w="12700">
            <a:solidFill>
              <a:srgbClr val="D6E3EF"/>
            </a:solidFill>
            <a:prstDash val="solid"/>
          </a:ln>
        </p:spPr>
        <p:txBody>
          <a:bodyPr/>
          <a:lstStyle/>
          <a:p>
            <a:endParaRPr lang="en-US"/>
          </a:p>
        </p:txBody>
      </p:sp>
      <p:sp>
        <p:nvSpPr>
          <p:cNvPr id="17" name="Text 15"/>
          <p:cNvSpPr/>
          <p:nvPr/>
        </p:nvSpPr>
        <p:spPr>
          <a:xfrm>
            <a:off x="3429000" y="2715768"/>
            <a:ext cx="548640" cy="274320"/>
          </a:xfrm>
          <a:prstGeom prst="rect">
            <a:avLst/>
          </a:prstGeom>
          <a:noFill/>
          <a:ln/>
        </p:spPr>
        <p:txBody>
          <a:bodyPr wrap="square" lIns="0" tIns="0" rIns="0" bIns="0" rtlCol="0" anchor="ctr"/>
          <a:lstStyle/>
          <a:p>
            <a:pPr marL="0" indent="0">
              <a:buNone/>
            </a:pPr>
            <a:r>
              <a:rPr lang="en-US" sz="1500" b="1" dirty="0">
                <a:solidFill>
                  <a:srgbClr val="00A3E0"/>
                </a:solidFill>
                <a:latin typeface="Segoe UI" pitchFamily="34" charset="0"/>
                <a:ea typeface="Segoe UI" pitchFamily="34" charset="-122"/>
                <a:cs typeface="Segoe UI" pitchFamily="34" charset="-120"/>
              </a:rPr>
              <a:t>05</a:t>
            </a:r>
            <a:endParaRPr lang="en-US" sz="1500" dirty="0"/>
          </a:p>
        </p:txBody>
      </p:sp>
      <p:sp>
        <p:nvSpPr>
          <p:cNvPr id="18" name="Text 16"/>
          <p:cNvSpPr/>
          <p:nvPr/>
        </p:nvSpPr>
        <p:spPr>
          <a:xfrm>
            <a:off x="3429000" y="2990088"/>
            <a:ext cx="2240280" cy="411480"/>
          </a:xfrm>
          <a:prstGeom prst="rect">
            <a:avLst/>
          </a:prstGeom>
          <a:noFill/>
          <a:ln/>
        </p:spPr>
        <p:txBody>
          <a:bodyPr wrap="square" lIns="0" tIns="0" rIns="0" bIns="0" rtlCol="0" anchor="ctr"/>
          <a:lstStyle/>
          <a:p>
            <a:pPr marL="0" indent="0">
              <a:buNone/>
            </a:pPr>
            <a:r>
              <a:rPr lang="en-US" sz="1300" b="1" dirty="0">
                <a:solidFill>
                  <a:srgbClr val="0B2545"/>
                </a:solidFill>
                <a:latin typeface="Segoe UI" pitchFamily="34" charset="0"/>
                <a:ea typeface="Segoe UI" pitchFamily="34" charset="-122"/>
                <a:cs typeface="Segoe UI" pitchFamily="34" charset="-120"/>
              </a:rPr>
              <a:t>PowerPoint</a:t>
            </a:r>
            <a:endParaRPr lang="en-US" sz="1300" dirty="0"/>
          </a:p>
        </p:txBody>
      </p:sp>
      <p:sp>
        <p:nvSpPr>
          <p:cNvPr id="19" name="module card">
            <a:extLst>
              <a:ext uri="{C183D7F6-B498-43B3-948B-1728B52AA6E4}">
                <adec:decorative xmlns:adec="http://schemas.microsoft.com/office/drawing/2017/decorative" val="1"/>
              </a:ext>
            </a:extLst>
          </p:cNvPr>
          <p:cNvSpPr/>
          <p:nvPr/>
        </p:nvSpPr>
        <p:spPr>
          <a:xfrm>
            <a:off x="6035040" y="2606040"/>
            <a:ext cx="2514600" cy="868680"/>
          </a:xfrm>
          <a:prstGeom prst="rect">
            <a:avLst/>
          </a:prstGeom>
          <a:solidFill>
            <a:srgbClr val="F2F6FA"/>
          </a:solidFill>
          <a:ln w="12700">
            <a:solidFill>
              <a:srgbClr val="D6E3EF"/>
            </a:solidFill>
            <a:prstDash val="solid"/>
          </a:ln>
        </p:spPr>
        <p:txBody>
          <a:bodyPr/>
          <a:lstStyle/>
          <a:p>
            <a:endParaRPr lang="en-US"/>
          </a:p>
        </p:txBody>
      </p:sp>
      <p:sp>
        <p:nvSpPr>
          <p:cNvPr id="20" name="Text 18"/>
          <p:cNvSpPr/>
          <p:nvPr/>
        </p:nvSpPr>
        <p:spPr>
          <a:xfrm>
            <a:off x="6172200" y="2715768"/>
            <a:ext cx="548640" cy="274320"/>
          </a:xfrm>
          <a:prstGeom prst="rect">
            <a:avLst/>
          </a:prstGeom>
          <a:noFill/>
          <a:ln/>
        </p:spPr>
        <p:txBody>
          <a:bodyPr wrap="square" lIns="0" tIns="0" rIns="0" bIns="0" rtlCol="0" anchor="ctr"/>
          <a:lstStyle/>
          <a:p>
            <a:pPr marL="0" indent="0">
              <a:buNone/>
            </a:pPr>
            <a:r>
              <a:rPr lang="en-US" sz="1500" b="1" dirty="0">
                <a:solidFill>
                  <a:srgbClr val="00A3E0"/>
                </a:solidFill>
                <a:latin typeface="Segoe UI" pitchFamily="34" charset="0"/>
                <a:ea typeface="Segoe UI" pitchFamily="34" charset="-122"/>
                <a:cs typeface="Segoe UI" pitchFamily="34" charset="-120"/>
              </a:rPr>
              <a:t>06</a:t>
            </a:r>
            <a:endParaRPr lang="en-US" sz="1500" dirty="0"/>
          </a:p>
        </p:txBody>
      </p:sp>
      <p:sp>
        <p:nvSpPr>
          <p:cNvPr id="21" name="Text 19"/>
          <p:cNvSpPr/>
          <p:nvPr/>
        </p:nvSpPr>
        <p:spPr>
          <a:xfrm>
            <a:off x="6172200" y="2990088"/>
            <a:ext cx="2240280" cy="411480"/>
          </a:xfrm>
          <a:prstGeom prst="rect">
            <a:avLst/>
          </a:prstGeom>
          <a:noFill/>
          <a:ln/>
        </p:spPr>
        <p:txBody>
          <a:bodyPr wrap="square" lIns="0" tIns="0" rIns="0" bIns="0" rtlCol="0" anchor="ctr"/>
          <a:lstStyle/>
          <a:p>
            <a:pPr marL="0" indent="0">
              <a:buNone/>
            </a:pPr>
            <a:r>
              <a:rPr lang="en-US" sz="1300" b="1" dirty="0">
                <a:solidFill>
                  <a:srgbClr val="0B2545"/>
                </a:solidFill>
                <a:latin typeface="Segoe UI" pitchFamily="34" charset="0"/>
                <a:ea typeface="Segoe UI" pitchFamily="34" charset="-122"/>
                <a:cs typeface="Segoe UI" pitchFamily="34" charset="-120"/>
              </a:rPr>
              <a:t>Excel</a:t>
            </a:r>
            <a:endParaRPr lang="en-US" sz="1300" dirty="0"/>
          </a:p>
        </p:txBody>
      </p:sp>
      <p:sp>
        <p:nvSpPr>
          <p:cNvPr id="22" name="module card">
            <a:extLst>
              <a:ext uri="{C183D7F6-B498-43B3-948B-1728B52AA6E4}">
                <adec:decorative xmlns:adec="http://schemas.microsoft.com/office/drawing/2017/decorative" val="1"/>
              </a:ext>
            </a:extLst>
          </p:cNvPr>
          <p:cNvSpPr/>
          <p:nvPr/>
        </p:nvSpPr>
        <p:spPr>
          <a:xfrm>
            <a:off x="548640" y="3657600"/>
            <a:ext cx="2514600" cy="868680"/>
          </a:xfrm>
          <a:prstGeom prst="rect">
            <a:avLst/>
          </a:prstGeom>
          <a:solidFill>
            <a:srgbClr val="F2F6FA"/>
          </a:solidFill>
          <a:ln w="12700">
            <a:solidFill>
              <a:srgbClr val="D6E3EF"/>
            </a:solidFill>
            <a:prstDash val="solid"/>
          </a:ln>
        </p:spPr>
        <p:txBody>
          <a:bodyPr/>
          <a:lstStyle/>
          <a:p>
            <a:endParaRPr lang="en-US"/>
          </a:p>
        </p:txBody>
      </p:sp>
      <p:sp>
        <p:nvSpPr>
          <p:cNvPr id="23" name="Text 21"/>
          <p:cNvSpPr/>
          <p:nvPr/>
        </p:nvSpPr>
        <p:spPr>
          <a:xfrm>
            <a:off x="685800" y="3767328"/>
            <a:ext cx="548640" cy="274320"/>
          </a:xfrm>
          <a:prstGeom prst="rect">
            <a:avLst/>
          </a:prstGeom>
          <a:noFill/>
          <a:ln/>
        </p:spPr>
        <p:txBody>
          <a:bodyPr wrap="square" lIns="0" tIns="0" rIns="0" bIns="0" rtlCol="0" anchor="ctr"/>
          <a:lstStyle/>
          <a:p>
            <a:pPr marL="0" indent="0">
              <a:buNone/>
            </a:pPr>
            <a:r>
              <a:rPr lang="en-US" sz="1500" b="1" dirty="0">
                <a:solidFill>
                  <a:srgbClr val="00A3E0"/>
                </a:solidFill>
                <a:latin typeface="Segoe UI" pitchFamily="34" charset="0"/>
                <a:ea typeface="Segoe UI" pitchFamily="34" charset="-122"/>
                <a:cs typeface="Segoe UI" pitchFamily="34" charset="-120"/>
              </a:rPr>
              <a:t>07</a:t>
            </a:r>
            <a:endParaRPr lang="en-US" sz="1500" dirty="0"/>
          </a:p>
        </p:txBody>
      </p:sp>
      <p:sp>
        <p:nvSpPr>
          <p:cNvPr id="24" name="Text 22"/>
          <p:cNvSpPr/>
          <p:nvPr/>
        </p:nvSpPr>
        <p:spPr>
          <a:xfrm>
            <a:off x="685800" y="4041648"/>
            <a:ext cx="2240280" cy="411480"/>
          </a:xfrm>
          <a:prstGeom prst="rect">
            <a:avLst/>
          </a:prstGeom>
          <a:noFill/>
          <a:ln/>
        </p:spPr>
        <p:txBody>
          <a:bodyPr wrap="square" lIns="0" tIns="0" rIns="0" bIns="0" rtlCol="0" anchor="ctr"/>
          <a:lstStyle/>
          <a:p>
            <a:pPr marL="0" indent="0">
              <a:buNone/>
            </a:pPr>
            <a:r>
              <a:rPr lang="en-US" sz="1300" b="1" dirty="0">
                <a:solidFill>
                  <a:srgbClr val="0B2545"/>
                </a:solidFill>
                <a:latin typeface="Segoe UI" pitchFamily="34" charset="0"/>
                <a:ea typeface="Segoe UI" pitchFamily="34" charset="-122"/>
                <a:cs typeface="Segoe UI" pitchFamily="34" charset="-120"/>
              </a:rPr>
              <a:t>OneDrive &amp; SharePoint</a:t>
            </a:r>
            <a:endParaRPr lang="en-US" sz="1300" dirty="0"/>
          </a:p>
        </p:txBody>
      </p:sp>
      <p:sp>
        <p:nvSpPr>
          <p:cNvPr id="25" name="module card">
            <a:extLst>
              <a:ext uri="{C183D7F6-B498-43B3-948B-1728B52AA6E4}">
                <adec:decorative xmlns:adec="http://schemas.microsoft.com/office/drawing/2017/decorative" val="1"/>
              </a:ext>
            </a:extLst>
          </p:cNvPr>
          <p:cNvSpPr/>
          <p:nvPr/>
        </p:nvSpPr>
        <p:spPr>
          <a:xfrm>
            <a:off x="3291840" y="3657600"/>
            <a:ext cx="2514600" cy="868680"/>
          </a:xfrm>
          <a:prstGeom prst="rect">
            <a:avLst/>
          </a:prstGeom>
          <a:solidFill>
            <a:srgbClr val="F2F6FA"/>
          </a:solidFill>
          <a:ln w="12700">
            <a:solidFill>
              <a:srgbClr val="D6E3EF"/>
            </a:solidFill>
            <a:prstDash val="solid"/>
          </a:ln>
        </p:spPr>
        <p:txBody>
          <a:bodyPr/>
          <a:lstStyle/>
          <a:p>
            <a:endParaRPr lang="en-US"/>
          </a:p>
        </p:txBody>
      </p:sp>
      <p:sp>
        <p:nvSpPr>
          <p:cNvPr id="26" name="Text 24"/>
          <p:cNvSpPr/>
          <p:nvPr/>
        </p:nvSpPr>
        <p:spPr>
          <a:xfrm>
            <a:off x="3429000" y="3767328"/>
            <a:ext cx="548640" cy="274320"/>
          </a:xfrm>
          <a:prstGeom prst="rect">
            <a:avLst/>
          </a:prstGeom>
          <a:noFill/>
          <a:ln/>
        </p:spPr>
        <p:txBody>
          <a:bodyPr wrap="square" lIns="0" tIns="0" rIns="0" bIns="0" rtlCol="0" anchor="ctr"/>
          <a:lstStyle/>
          <a:p>
            <a:pPr marL="0" indent="0">
              <a:buNone/>
            </a:pPr>
            <a:r>
              <a:rPr lang="en-US" sz="1500" b="1" dirty="0">
                <a:solidFill>
                  <a:srgbClr val="00A3E0"/>
                </a:solidFill>
                <a:latin typeface="Segoe UI" pitchFamily="34" charset="0"/>
                <a:ea typeface="Segoe UI" pitchFamily="34" charset="-122"/>
                <a:cs typeface="Segoe UI" pitchFamily="34" charset="-120"/>
              </a:rPr>
              <a:t>08</a:t>
            </a:r>
            <a:endParaRPr lang="en-US" sz="1500" dirty="0"/>
          </a:p>
        </p:txBody>
      </p:sp>
      <p:sp>
        <p:nvSpPr>
          <p:cNvPr id="27" name="Text 25"/>
          <p:cNvSpPr/>
          <p:nvPr/>
        </p:nvSpPr>
        <p:spPr>
          <a:xfrm>
            <a:off x="3429000" y="4041648"/>
            <a:ext cx="2240280" cy="411480"/>
          </a:xfrm>
          <a:prstGeom prst="rect">
            <a:avLst/>
          </a:prstGeom>
          <a:noFill/>
          <a:ln/>
        </p:spPr>
        <p:txBody>
          <a:bodyPr wrap="square" lIns="0" tIns="0" rIns="0" bIns="0" rtlCol="0" anchor="ctr"/>
          <a:lstStyle/>
          <a:p>
            <a:pPr marL="0" indent="0">
              <a:buNone/>
            </a:pPr>
            <a:r>
              <a:rPr lang="en-US" sz="1300" b="1" dirty="0">
                <a:solidFill>
                  <a:srgbClr val="0B2545"/>
                </a:solidFill>
                <a:latin typeface="Segoe UI" pitchFamily="34" charset="0"/>
                <a:ea typeface="Segoe UI" pitchFamily="34" charset="-122"/>
                <a:cs typeface="Segoe UI" pitchFamily="34" charset="-120"/>
              </a:rPr>
              <a:t>OneNote</a:t>
            </a:r>
            <a:endParaRPr lang="en-US" sz="1300" dirty="0"/>
          </a:p>
        </p:txBody>
      </p:sp>
      <p:sp>
        <p:nvSpPr>
          <p:cNvPr id="28" name="module card">
            <a:extLst>
              <a:ext uri="{C183D7F6-B498-43B3-948B-1728B52AA6E4}">
                <adec:decorative xmlns:adec="http://schemas.microsoft.com/office/drawing/2017/decorative" val="1"/>
              </a:ext>
            </a:extLst>
          </p:cNvPr>
          <p:cNvSpPr/>
          <p:nvPr/>
        </p:nvSpPr>
        <p:spPr>
          <a:xfrm>
            <a:off x="6035040" y="3657600"/>
            <a:ext cx="2514600" cy="868680"/>
          </a:xfrm>
          <a:prstGeom prst="rect">
            <a:avLst/>
          </a:prstGeom>
          <a:solidFill>
            <a:srgbClr val="F2F6FA"/>
          </a:solidFill>
          <a:ln w="12700">
            <a:solidFill>
              <a:srgbClr val="D6E3EF"/>
            </a:solidFill>
            <a:prstDash val="solid"/>
          </a:ln>
        </p:spPr>
        <p:txBody>
          <a:bodyPr/>
          <a:lstStyle/>
          <a:p>
            <a:endParaRPr lang="en-US"/>
          </a:p>
        </p:txBody>
      </p:sp>
      <p:sp>
        <p:nvSpPr>
          <p:cNvPr id="29" name="Text 27"/>
          <p:cNvSpPr/>
          <p:nvPr/>
        </p:nvSpPr>
        <p:spPr>
          <a:xfrm>
            <a:off x="6172200" y="3767328"/>
            <a:ext cx="548640" cy="274320"/>
          </a:xfrm>
          <a:prstGeom prst="rect">
            <a:avLst/>
          </a:prstGeom>
          <a:noFill/>
          <a:ln/>
        </p:spPr>
        <p:txBody>
          <a:bodyPr wrap="square" lIns="0" tIns="0" rIns="0" bIns="0" rtlCol="0" anchor="ctr"/>
          <a:lstStyle/>
          <a:p>
            <a:pPr marL="0" indent="0">
              <a:buNone/>
            </a:pPr>
            <a:r>
              <a:rPr lang="en-US" sz="1500" b="1" dirty="0">
                <a:solidFill>
                  <a:srgbClr val="00A3E0"/>
                </a:solidFill>
                <a:latin typeface="Segoe UI" pitchFamily="34" charset="0"/>
                <a:ea typeface="Segoe UI" pitchFamily="34" charset="-122"/>
                <a:cs typeface="Segoe UI" pitchFamily="34" charset="-120"/>
              </a:rPr>
              <a:t>09</a:t>
            </a:r>
            <a:endParaRPr lang="en-US" sz="1500" dirty="0"/>
          </a:p>
        </p:txBody>
      </p:sp>
      <p:sp>
        <p:nvSpPr>
          <p:cNvPr id="30" name="Text 28"/>
          <p:cNvSpPr/>
          <p:nvPr/>
        </p:nvSpPr>
        <p:spPr>
          <a:xfrm>
            <a:off x="6172200" y="4041648"/>
            <a:ext cx="2240280" cy="411480"/>
          </a:xfrm>
          <a:prstGeom prst="rect">
            <a:avLst/>
          </a:prstGeom>
          <a:noFill/>
          <a:ln/>
        </p:spPr>
        <p:txBody>
          <a:bodyPr wrap="square" lIns="0" tIns="0" rIns="0" bIns="0" rtlCol="0" anchor="ctr"/>
          <a:lstStyle/>
          <a:p>
            <a:pPr marL="0" indent="0">
              <a:buNone/>
            </a:pPr>
            <a:r>
              <a:rPr lang="en-US" sz="1300" b="1" dirty="0">
                <a:solidFill>
                  <a:srgbClr val="0B2545"/>
                </a:solidFill>
                <a:latin typeface="Segoe UI" pitchFamily="34" charset="0"/>
                <a:ea typeface="Segoe UI" pitchFamily="34" charset="-122"/>
                <a:cs typeface="Segoe UI" pitchFamily="34" charset="-120"/>
              </a:rPr>
              <a:t>Wrap-Up</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47472"/>
            <a:ext cx="8046720" cy="640080"/>
          </a:xfrm>
          <a:prstGeom prst="rect">
            <a:avLst/>
          </a:prstGeom>
          <a:noFill/>
          <a:ln/>
        </p:spPr>
        <p:txBody>
          <a:bodyPr wrap="square" lIns="0" tIns="0" rIns="0" bIns="0" rtlCol="0" anchor="ctr"/>
          <a:lstStyle/>
          <a:p>
            <a:pPr marL="0" indent="0">
              <a:buNone/>
            </a:pPr>
            <a:r>
              <a:rPr lang="en-US" sz="2800" b="1" dirty="0">
                <a:solidFill>
                  <a:srgbClr val="0B2545"/>
                </a:solidFill>
                <a:latin typeface="Segoe UI" pitchFamily="34" charset="0"/>
                <a:ea typeface="Segoe UI" pitchFamily="34" charset="-122"/>
                <a:cs typeface="Segoe UI" pitchFamily="34" charset="-120"/>
              </a:rPr>
              <a:t>Module 1: Welcome &amp; Context</a:t>
            </a:r>
            <a:endParaRPr lang="en-US" sz="2800" dirty="0"/>
          </a:p>
        </p:txBody>
      </p:sp>
      <p:sp>
        <p:nvSpPr>
          <p:cNvPr id="3" name="rule">
            <a:extLst>
              <a:ext uri="{C183D7F6-B498-43B3-948B-1728B52AA6E4}">
                <adec:decorative xmlns:adec="http://schemas.microsoft.com/office/drawing/2017/decorative" val="1"/>
              </a:ext>
            </a:extLst>
          </p:cNvPr>
          <p:cNvSpPr/>
          <p:nvPr/>
        </p:nvSpPr>
        <p:spPr>
          <a:xfrm>
            <a:off x="548640" y="1024128"/>
            <a:ext cx="1005840" cy="41148"/>
          </a:xfrm>
          <a:prstGeom prst="rect">
            <a:avLst/>
          </a:prstGeom>
          <a:solidFill>
            <a:srgbClr val="00A3E0"/>
          </a:solidFill>
          <a:ln w="12700">
            <a:solidFill>
              <a:srgbClr val="00A3E0"/>
            </a:solidFill>
            <a:prstDash val="solid"/>
          </a:ln>
        </p:spPr>
        <p:txBody>
          <a:bodyPr/>
          <a:lstStyle/>
          <a:p>
            <a:endParaRPr lang="en-US"/>
          </a:p>
        </p:txBody>
      </p:sp>
      <p:sp>
        <p:nvSpPr>
          <p:cNvPr id="4" name="Text 2"/>
          <p:cNvSpPr/>
          <p:nvPr/>
        </p:nvSpPr>
        <p:spPr>
          <a:xfrm>
            <a:off x="548640" y="1097280"/>
            <a:ext cx="8046720" cy="320040"/>
          </a:xfrm>
          <a:prstGeom prst="rect">
            <a:avLst/>
          </a:prstGeom>
          <a:noFill/>
          <a:ln/>
        </p:spPr>
        <p:txBody>
          <a:bodyPr wrap="square" lIns="0" tIns="0" rIns="0" bIns="0" rtlCol="0" anchor="ctr"/>
          <a:lstStyle/>
          <a:p>
            <a:pPr marL="0" indent="0">
              <a:buNone/>
            </a:pPr>
            <a:r>
              <a:rPr lang="en-US" sz="1300" i="1" dirty="0">
                <a:solidFill>
                  <a:srgbClr val="5A6B7B"/>
                </a:solidFill>
                <a:latin typeface="Segoe UI" pitchFamily="34" charset="0"/>
                <a:ea typeface="Segoe UI" pitchFamily="34" charset="-122"/>
                <a:cs typeface="Segoe UI" pitchFamily="34" charset="-120"/>
              </a:rPr>
              <a:t>The art of the possible</a:t>
            </a:r>
            <a:endParaRPr lang="en-US" sz="1300" dirty="0"/>
          </a:p>
        </p:txBody>
      </p:sp>
      <p:sp>
        <p:nvSpPr>
          <p:cNvPr id="5" name="Text 3"/>
          <p:cNvSpPr/>
          <p:nvPr/>
        </p:nvSpPr>
        <p:spPr>
          <a:xfrm>
            <a:off x="685800" y="1554480"/>
            <a:ext cx="7863840" cy="1554480"/>
          </a:xfrm>
          <a:prstGeom prst="rect">
            <a:avLst/>
          </a:prstGeom>
          <a:noFill/>
          <a:ln/>
        </p:spPr>
        <p:txBody>
          <a:bodyPr wrap="square" rtlCol="0" anchor="t"/>
          <a:lstStyle/>
          <a:p>
            <a:pPr marL="342900" indent="-342900">
              <a:spcAft>
                <a:spcPts val="800"/>
              </a:spcAft>
              <a:buSzPct val="100000"/>
              <a:buChar char="•"/>
            </a:pPr>
            <a:r>
              <a:rPr lang="en-US" sz="1500" dirty="0">
                <a:solidFill>
                  <a:srgbClr val="26303B"/>
                </a:solidFill>
                <a:latin typeface="Segoe UI" pitchFamily="34" charset="0"/>
                <a:ea typeface="Segoe UI" pitchFamily="34" charset="-122"/>
                <a:cs typeface="Segoe UI" pitchFamily="34" charset="-120"/>
              </a:rPr>
              <a:t>AI vs. traditional software; what LLMs and NLP mean in plain language</a:t>
            </a:r>
            <a:endParaRPr lang="en-US" sz="1500" dirty="0"/>
          </a:p>
          <a:p>
            <a:pPr marL="342900" indent="-342900">
              <a:spcAft>
                <a:spcPts val="800"/>
              </a:spcAft>
              <a:buSzPct val="100000"/>
              <a:buChar char="•"/>
            </a:pPr>
            <a:r>
              <a:rPr lang="en-US" sz="1500" dirty="0">
                <a:solidFill>
                  <a:srgbClr val="26303B"/>
                </a:solidFill>
                <a:latin typeface="Segoe UI" pitchFamily="34" charset="0"/>
                <a:ea typeface="Segoe UI" pitchFamily="34" charset="-122"/>
                <a:cs typeface="Segoe UI" pitchFamily="34" charset="-120"/>
              </a:rPr>
              <a:t>What makes a “good” prompt — and the key principle: garbage in, garbage out</a:t>
            </a:r>
            <a:endParaRPr lang="en-US" sz="1500" dirty="0"/>
          </a:p>
          <a:p>
            <a:pPr marL="342900" indent="-342900">
              <a:spcAft>
                <a:spcPts val="800"/>
              </a:spcAft>
              <a:buSzPct val="100000"/>
              <a:buChar char="•"/>
            </a:pPr>
            <a:r>
              <a:rPr lang="en-US" sz="1500" dirty="0">
                <a:solidFill>
                  <a:srgbClr val="26303B"/>
                </a:solidFill>
                <a:latin typeface="Segoe UI" pitchFamily="34" charset="0"/>
                <a:ea typeface="Segoe UI" pitchFamily="34" charset="-122"/>
                <a:cs typeface="Segoe UI" pitchFamily="34" charset="-120"/>
              </a:rPr>
              <a:t>How Copilot integrates across Microsoft 365, with cross-product use cases</a:t>
            </a:r>
            <a:endParaRPr lang="en-US" sz="1500" dirty="0"/>
          </a:p>
        </p:txBody>
      </p:sp>
      <p:sp>
        <p:nvSpPr>
          <p:cNvPr id="6" name="prompt card">
            <a:extLst>
              <a:ext uri="{C183D7F6-B498-43B3-948B-1728B52AA6E4}">
                <adec:decorative xmlns:adec="http://schemas.microsoft.com/office/drawing/2017/decorative" val="1"/>
              </a:ext>
            </a:extLst>
          </p:cNvPr>
          <p:cNvSpPr/>
          <p:nvPr/>
        </p:nvSpPr>
        <p:spPr>
          <a:xfrm>
            <a:off x="548640" y="3337560"/>
            <a:ext cx="8046720" cy="1280160"/>
          </a:xfrm>
          <a:prstGeom prst="rect">
            <a:avLst/>
          </a:prstGeom>
          <a:solidFill>
            <a:srgbClr val="F2F6FA"/>
          </a:solidFill>
          <a:ln w="12700">
            <a:solidFill>
              <a:srgbClr val="D6E3EF"/>
            </a:solidFill>
            <a:prstDash val="solid"/>
          </a:ln>
        </p:spPr>
        <p:txBody>
          <a:bodyPr/>
          <a:lstStyle/>
          <a:p>
            <a:endParaRPr lang="en-US"/>
          </a:p>
        </p:txBody>
      </p:sp>
      <p:sp>
        <p:nvSpPr>
          <p:cNvPr id="7" name="accent bar">
            <a:extLst>
              <a:ext uri="{C183D7F6-B498-43B3-948B-1728B52AA6E4}">
                <adec:decorative xmlns:adec="http://schemas.microsoft.com/office/drawing/2017/decorative" val="1"/>
              </a:ext>
            </a:extLst>
          </p:cNvPr>
          <p:cNvSpPr/>
          <p:nvPr/>
        </p:nvSpPr>
        <p:spPr>
          <a:xfrm>
            <a:off x="548640" y="3337560"/>
            <a:ext cx="73152" cy="1280160"/>
          </a:xfrm>
          <a:prstGeom prst="rect">
            <a:avLst/>
          </a:prstGeom>
          <a:solidFill>
            <a:srgbClr val="00A3E0"/>
          </a:solidFill>
          <a:ln w="12700">
            <a:solidFill>
              <a:srgbClr val="00A3E0"/>
            </a:solidFill>
            <a:prstDash val="solid"/>
          </a:ln>
        </p:spPr>
        <p:txBody>
          <a:bodyPr/>
          <a:lstStyle/>
          <a:p>
            <a:endParaRPr lang="en-US"/>
          </a:p>
        </p:txBody>
      </p:sp>
      <p:sp>
        <p:nvSpPr>
          <p:cNvPr id="8" name="Text 6"/>
          <p:cNvSpPr/>
          <p:nvPr/>
        </p:nvSpPr>
        <p:spPr>
          <a:xfrm>
            <a:off x="777240" y="3429000"/>
            <a:ext cx="7680960" cy="256032"/>
          </a:xfrm>
          <a:prstGeom prst="rect">
            <a:avLst/>
          </a:prstGeom>
          <a:noFill/>
          <a:ln/>
        </p:spPr>
        <p:txBody>
          <a:bodyPr wrap="square" lIns="0" tIns="0" rIns="0" bIns="0" rtlCol="0" anchor="ctr"/>
          <a:lstStyle/>
          <a:p>
            <a:pPr marL="0" indent="0">
              <a:buNone/>
            </a:pPr>
            <a:r>
              <a:rPr lang="en-US" sz="1000" b="1" kern="0" spc="200" dirty="0">
                <a:solidFill>
                  <a:srgbClr val="1B4F9C"/>
                </a:solidFill>
                <a:latin typeface="Segoe UI" pitchFamily="34" charset="0"/>
                <a:ea typeface="Segoe UI" pitchFamily="34" charset="-122"/>
                <a:cs typeface="Segoe UI" pitchFamily="34" charset="-120"/>
              </a:rPr>
              <a:t>TRY THIS PROMPT</a:t>
            </a:r>
            <a:endParaRPr lang="en-US" sz="1000" dirty="0"/>
          </a:p>
        </p:txBody>
      </p:sp>
      <p:sp>
        <p:nvSpPr>
          <p:cNvPr id="9" name="Text 7"/>
          <p:cNvSpPr/>
          <p:nvPr/>
        </p:nvSpPr>
        <p:spPr>
          <a:xfrm>
            <a:off x="777240" y="3703320"/>
            <a:ext cx="7680960" cy="822960"/>
          </a:xfrm>
          <a:prstGeom prst="rect">
            <a:avLst/>
          </a:prstGeom>
          <a:noFill/>
          <a:ln/>
        </p:spPr>
        <p:txBody>
          <a:bodyPr wrap="square" lIns="0" tIns="0" rIns="0" bIns="0" rtlCol="0" anchor="t"/>
          <a:lstStyle/>
          <a:p>
            <a:pPr marL="0" indent="0">
              <a:buNone/>
            </a:pPr>
            <a:r>
              <a:rPr lang="en-US" sz="1350" i="1" dirty="0">
                <a:solidFill>
                  <a:srgbClr val="0B2545"/>
                </a:solidFill>
                <a:latin typeface="Segoe UI" pitchFamily="34" charset="0"/>
                <a:ea typeface="Segoe UI" pitchFamily="34" charset="-122"/>
                <a:cs typeface="Segoe UI" pitchFamily="34" charset="-120"/>
              </a:rPr>
              <a:t>“I'm new to Microsoft 365 Copilot. Explain in plain language how you work across Outlook, Teams, Word, and Excel, and give me three examples of tasks you could take off my plate this week.”</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47472"/>
            <a:ext cx="8046720" cy="640080"/>
          </a:xfrm>
          <a:prstGeom prst="rect">
            <a:avLst/>
          </a:prstGeom>
          <a:noFill/>
          <a:ln/>
        </p:spPr>
        <p:txBody>
          <a:bodyPr wrap="square" lIns="0" tIns="0" rIns="0" bIns="0" rtlCol="0" anchor="ctr"/>
          <a:lstStyle/>
          <a:p>
            <a:pPr marL="0" indent="0">
              <a:buNone/>
            </a:pPr>
            <a:r>
              <a:rPr lang="en-US" sz="2800" b="1" dirty="0">
                <a:solidFill>
                  <a:srgbClr val="0B2545"/>
                </a:solidFill>
                <a:latin typeface="Segoe UI" pitchFamily="34" charset="0"/>
                <a:ea typeface="Segoe UI" pitchFamily="34" charset="-122"/>
                <a:cs typeface="Segoe UI" pitchFamily="34" charset="-120"/>
              </a:rPr>
              <a:t>Module 2: Building Effective Prompts</a:t>
            </a:r>
            <a:endParaRPr lang="en-US" sz="2800" dirty="0"/>
          </a:p>
        </p:txBody>
      </p:sp>
      <p:sp>
        <p:nvSpPr>
          <p:cNvPr id="3" name="rule">
            <a:extLst>
              <a:ext uri="{C183D7F6-B498-43B3-948B-1728B52AA6E4}">
                <adec:decorative xmlns:adec="http://schemas.microsoft.com/office/drawing/2017/decorative" val="1"/>
              </a:ext>
            </a:extLst>
          </p:cNvPr>
          <p:cNvSpPr/>
          <p:nvPr/>
        </p:nvSpPr>
        <p:spPr>
          <a:xfrm>
            <a:off x="548640" y="1024128"/>
            <a:ext cx="1005840" cy="41148"/>
          </a:xfrm>
          <a:prstGeom prst="rect">
            <a:avLst/>
          </a:prstGeom>
          <a:solidFill>
            <a:srgbClr val="00A3E0"/>
          </a:solidFill>
          <a:ln w="12700">
            <a:solidFill>
              <a:srgbClr val="00A3E0"/>
            </a:solidFill>
            <a:prstDash val="solid"/>
          </a:ln>
        </p:spPr>
        <p:txBody>
          <a:bodyPr/>
          <a:lstStyle/>
          <a:p>
            <a:endParaRPr lang="en-US"/>
          </a:p>
        </p:txBody>
      </p:sp>
      <p:sp>
        <p:nvSpPr>
          <p:cNvPr id="4" name="Text 2"/>
          <p:cNvSpPr/>
          <p:nvPr/>
        </p:nvSpPr>
        <p:spPr>
          <a:xfrm>
            <a:off x="548640" y="1097280"/>
            <a:ext cx="8046720" cy="320040"/>
          </a:xfrm>
          <a:prstGeom prst="rect">
            <a:avLst/>
          </a:prstGeom>
          <a:noFill/>
          <a:ln/>
        </p:spPr>
        <p:txBody>
          <a:bodyPr wrap="square" lIns="0" tIns="0" rIns="0" bIns="0" rtlCol="0" anchor="ctr"/>
          <a:lstStyle/>
          <a:p>
            <a:pPr marL="0" indent="0">
              <a:buNone/>
            </a:pPr>
            <a:r>
              <a:rPr lang="en-US" sz="1300" i="1" dirty="0">
                <a:solidFill>
                  <a:srgbClr val="5A6B7B"/>
                </a:solidFill>
                <a:latin typeface="Segoe UI" pitchFamily="34" charset="0"/>
                <a:ea typeface="Segoe UI" pitchFamily="34" charset="-122"/>
                <a:cs typeface="Segoe UI" pitchFamily="34" charset="-120"/>
              </a:rPr>
              <a:t>Role · Task · Constraints · Sources</a:t>
            </a:r>
            <a:endParaRPr lang="en-US" sz="1300" dirty="0"/>
          </a:p>
        </p:txBody>
      </p:sp>
      <p:sp>
        <p:nvSpPr>
          <p:cNvPr id="5" name="Text 3"/>
          <p:cNvSpPr/>
          <p:nvPr/>
        </p:nvSpPr>
        <p:spPr>
          <a:xfrm>
            <a:off x="548640" y="1508760"/>
            <a:ext cx="3840480" cy="274320"/>
          </a:xfrm>
          <a:prstGeom prst="rect">
            <a:avLst/>
          </a:prstGeom>
          <a:noFill/>
          <a:ln/>
        </p:spPr>
        <p:txBody>
          <a:bodyPr wrap="square" lIns="0" tIns="0" rIns="0" bIns="0" rtlCol="0" anchor="ctr"/>
          <a:lstStyle/>
          <a:p>
            <a:pPr marL="0" indent="0">
              <a:buNone/>
            </a:pPr>
            <a:r>
              <a:rPr lang="en-US" sz="1400" b="1" dirty="0">
                <a:solidFill>
                  <a:srgbClr val="1B4F9C"/>
                </a:solidFill>
                <a:latin typeface="Segoe UI" pitchFamily="34" charset="0"/>
                <a:ea typeface="Segoe UI" pitchFamily="34" charset="-122"/>
                <a:cs typeface="Segoe UI" pitchFamily="34" charset="-120"/>
              </a:rPr>
              <a:t>Core elements</a:t>
            </a:r>
            <a:endParaRPr lang="en-US" sz="1400" dirty="0"/>
          </a:p>
        </p:txBody>
      </p:sp>
      <p:sp>
        <p:nvSpPr>
          <p:cNvPr id="6" name="Text 4"/>
          <p:cNvSpPr/>
          <p:nvPr/>
        </p:nvSpPr>
        <p:spPr>
          <a:xfrm>
            <a:off x="685800" y="1828800"/>
            <a:ext cx="3703320" cy="1280160"/>
          </a:xfrm>
          <a:prstGeom prst="rect">
            <a:avLst/>
          </a:prstGeom>
          <a:noFill/>
          <a:ln/>
        </p:spPr>
        <p:txBody>
          <a:bodyPr wrap="square" rtlCol="0" anchor="t"/>
          <a:lstStyle/>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Role / context</a:t>
            </a:r>
            <a:endParaRPr lang="en-US" sz="1350" dirty="0"/>
          </a:p>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Task</a:t>
            </a:r>
            <a:endParaRPr lang="en-US" sz="1350" dirty="0"/>
          </a:p>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Constraints</a:t>
            </a:r>
            <a:endParaRPr lang="en-US" sz="1350" dirty="0"/>
          </a:p>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Sources</a:t>
            </a:r>
            <a:endParaRPr lang="en-US" sz="1350" dirty="0"/>
          </a:p>
        </p:txBody>
      </p:sp>
      <p:sp>
        <p:nvSpPr>
          <p:cNvPr id="7" name="Text 5"/>
          <p:cNvSpPr/>
          <p:nvPr/>
        </p:nvSpPr>
        <p:spPr>
          <a:xfrm>
            <a:off x="4754880" y="1508760"/>
            <a:ext cx="3840480" cy="274320"/>
          </a:xfrm>
          <a:prstGeom prst="rect">
            <a:avLst/>
          </a:prstGeom>
          <a:noFill/>
          <a:ln/>
        </p:spPr>
        <p:txBody>
          <a:bodyPr wrap="square" lIns="0" tIns="0" rIns="0" bIns="0" rtlCol="0" anchor="ctr"/>
          <a:lstStyle/>
          <a:p>
            <a:pPr marL="0" indent="0">
              <a:buNone/>
            </a:pPr>
            <a:r>
              <a:rPr lang="en-US" sz="1400" b="1" dirty="0">
                <a:solidFill>
                  <a:srgbClr val="1B4F9C"/>
                </a:solidFill>
                <a:latin typeface="Segoe UI" pitchFamily="34" charset="0"/>
                <a:ea typeface="Segoe UI" pitchFamily="34" charset="-122"/>
                <a:cs typeface="Segoe UI" pitchFamily="34" charset="-120"/>
              </a:rPr>
              <a:t>Reusable patterns</a:t>
            </a:r>
            <a:endParaRPr lang="en-US" sz="1400" dirty="0"/>
          </a:p>
        </p:txBody>
      </p:sp>
      <p:sp>
        <p:nvSpPr>
          <p:cNvPr id="8" name="Text 6"/>
          <p:cNvSpPr/>
          <p:nvPr/>
        </p:nvSpPr>
        <p:spPr>
          <a:xfrm>
            <a:off x="4892040" y="1828800"/>
            <a:ext cx="3703320" cy="1280160"/>
          </a:xfrm>
          <a:prstGeom prst="rect">
            <a:avLst/>
          </a:prstGeom>
          <a:noFill/>
          <a:ln/>
        </p:spPr>
        <p:txBody>
          <a:bodyPr wrap="square" rtlCol="0" anchor="t"/>
          <a:lstStyle/>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“Summarize…”</a:t>
            </a:r>
            <a:endParaRPr lang="en-US" sz="1350" dirty="0"/>
          </a:p>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“Draft…”</a:t>
            </a:r>
            <a:endParaRPr lang="en-US" sz="1350" dirty="0"/>
          </a:p>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“Transform…”</a:t>
            </a:r>
            <a:endParaRPr lang="en-US" sz="1350" dirty="0"/>
          </a:p>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Build a prompt template repository</a:t>
            </a:r>
            <a:endParaRPr lang="en-US" sz="1350" dirty="0"/>
          </a:p>
        </p:txBody>
      </p:sp>
      <p:sp>
        <p:nvSpPr>
          <p:cNvPr id="9" name="prompt card">
            <a:extLst>
              <a:ext uri="{C183D7F6-B498-43B3-948B-1728B52AA6E4}">
                <adec:decorative xmlns:adec="http://schemas.microsoft.com/office/drawing/2017/decorative" val="1"/>
              </a:ext>
            </a:extLst>
          </p:cNvPr>
          <p:cNvSpPr/>
          <p:nvPr/>
        </p:nvSpPr>
        <p:spPr>
          <a:xfrm>
            <a:off x="548640" y="3337560"/>
            <a:ext cx="8046720" cy="1280160"/>
          </a:xfrm>
          <a:prstGeom prst="rect">
            <a:avLst/>
          </a:prstGeom>
          <a:solidFill>
            <a:srgbClr val="F2F6FA"/>
          </a:solidFill>
          <a:ln w="12700">
            <a:solidFill>
              <a:srgbClr val="D6E3EF"/>
            </a:solidFill>
            <a:prstDash val="solid"/>
          </a:ln>
        </p:spPr>
        <p:txBody>
          <a:bodyPr/>
          <a:lstStyle/>
          <a:p>
            <a:endParaRPr lang="en-US"/>
          </a:p>
        </p:txBody>
      </p:sp>
      <p:sp>
        <p:nvSpPr>
          <p:cNvPr id="10" name="accent bar">
            <a:extLst>
              <a:ext uri="{C183D7F6-B498-43B3-948B-1728B52AA6E4}">
                <adec:decorative xmlns:adec="http://schemas.microsoft.com/office/drawing/2017/decorative" val="1"/>
              </a:ext>
            </a:extLst>
          </p:cNvPr>
          <p:cNvSpPr/>
          <p:nvPr/>
        </p:nvSpPr>
        <p:spPr>
          <a:xfrm>
            <a:off x="548640" y="3337560"/>
            <a:ext cx="73152" cy="1280160"/>
          </a:xfrm>
          <a:prstGeom prst="rect">
            <a:avLst/>
          </a:prstGeom>
          <a:solidFill>
            <a:srgbClr val="00A3E0"/>
          </a:solidFill>
          <a:ln w="12700">
            <a:solidFill>
              <a:srgbClr val="00A3E0"/>
            </a:solidFill>
            <a:prstDash val="solid"/>
          </a:ln>
        </p:spPr>
        <p:txBody>
          <a:bodyPr/>
          <a:lstStyle/>
          <a:p>
            <a:endParaRPr lang="en-US"/>
          </a:p>
        </p:txBody>
      </p:sp>
      <p:sp>
        <p:nvSpPr>
          <p:cNvPr id="11" name="Text 9"/>
          <p:cNvSpPr/>
          <p:nvPr/>
        </p:nvSpPr>
        <p:spPr>
          <a:xfrm>
            <a:off x="777240" y="3429000"/>
            <a:ext cx="7680960" cy="256032"/>
          </a:xfrm>
          <a:prstGeom prst="rect">
            <a:avLst/>
          </a:prstGeom>
          <a:noFill/>
          <a:ln/>
        </p:spPr>
        <p:txBody>
          <a:bodyPr wrap="square" lIns="0" tIns="0" rIns="0" bIns="0" rtlCol="0" anchor="ctr"/>
          <a:lstStyle/>
          <a:p>
            <a:pPr marL="0" indent="0">
              <a:buNone/>
            </a:pPr>
            <a:r>
              <a:rPr lang="en-US" sz="1000" b="1" kern="0" spc="200" dirty="0">
                <a:solidFill>
                  <a:srgbClr val="1B4F9C"/>
                </a:solidFill>
                <a:latin typeface="Segoe UI" pitchFamily="34" charset="0"/>
                <a:ea typeface="Segoe UI" pitchFamily="34" charset="-122"/>
                <a:cs typeface="Segoe UI" pitchFamily="34" charset="-120"/>
              </a:rPr>
              <a:t>TRY THIS PROMPT</a:t>
            </a:r>
            <a:endParaRPr lang="en-US" sz="1000" dirty="0"/>
          </a:p>
        </p:txBody>
      </p:sp>
      <p:sp>
        <p:nvSpPr>
          <p:cNvPr id="12" name="Text 10"/>
          <p:cNvSpPr/>
          <p:nvPr/>
        </p:nvSpPr>
        <p:spPr>
          <a:xfrm>
            <a:off x="777240" y="3703320"/>
            <a:ext cx="7680960" cy="822960"/>
          </a:xfrm>
          <a:prstGeom prst="rect">
            <a:avLst/>
          </a:prstGeom>
          <a:noFill/>
          <a:ln/>
        </p:spPr>
        <p:txBody>
          <a:bodyPr wrap="square" lIns="0" tIns="0" rIns="0" bIns="0" rtlCol="0" anchor="t"/>
          <a:lstStyle/>
          <a:p>
            <a:pPr marL="0" indent="0">
              <a:buNone/>
            </a:pPr>
            <a:r>
              <a:rPr lang="en-US" sz="1350" i="1" dirty="0">
                <a:solidFill>
                  <a:srgbClr val="0B2545"/>
                </a:solidFill>
                <a:latin typeface="Segoe UI" pitchFamily="34" charset="0"/>
                <a:ea typeface="Segoe UI" pitchFamily="34" charset="-122"/>
                <a:cs typeface="Segoe UI" pitchFamily="34" charset="-120"/>
              </a:rPr>
              <a:t>“Acting as my project manager, summarize the attached status report in 5 bullets for an executive audience. Keep it under 120 words, avoid jargon, and end with the top risk and the decision you need from me.”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CD8BE3F-AAB3-1C95-9805-20A57474681E}"/>
              </a:ext>
            </a:extLst>
          </p:cNvPr>
          <p:cNvSpPr>
            <a:spLocks noGrp="1"/>
          </p:cNvSpPr>
          <p:nvPr>
            <p:ph type="title"/>
          </p:nvPr>
        </p:nvSpPr>
        <p:spPr>
          <a:xfrm>
            <a:off x="441197" y="565446"/>
            <a:ext cx="8263890" cy="323165"/>
          </a:xfrm>
        </p:spPr>
        <p:txBody>
          <a:bodyPr/>
          <a:lstStyle/>
          <a:p>
            <a:pPr algn="ctr"/>
            <a:r>
              <a:rPr lang="en-US" sz="2100" dirty="0"/>
              <a:t>Highlight key decisions and actions from Teams meetings</a:t>
            </a:r>
          </a:p>
        </p:txBody>
      </p:sp>
      <p:sp>
        <p:nvSpPr>
          <p:cNvPr id="4" name="Rectangle: Rounded Corners 36">
            <a:extLst>
              <a:ext uri="{FF2B5EF4-FFF2-40B4-BE49-F238E27FC236}">
                <a16:creationId xmlns:a16="http://schemas.microsoft.com/office/drawing/2014/main" id="{DA5EDF08-0258-970F-FEC8-7C0DFDF9FF9D}"/>
              </a:ext>
              <a:ext uri="{C183D7F6-B498-43B3-948B-1728B52AA6E4}">
                <adec:decorative xmlns:adec="http://schemas.microsoft.com/office/drawing/2017/decorative" val="1"/>
              </a:ext>
            </a:extLst>
          </p:cNvPr>
          <p:cNvSpPr>
            <a:spLocks/>
          </p:cNvSpPr>
          <p:nvPr/>
        </p:nvSpPr>
        <p:spPr>
          <a:xfrm rot="16200000">
            <a:off x="509435" y="1173404"/>
            <a:ext cx="1874674" cy="1988820"/>
          </a:xfrm>
          <a:prstGeom prst="roundRect">
            <a:avLst>
              <a:gd name="adj" fmla="val 2772"/>
            </a:avLst>
          </a:prstGeom>
          <a:solidFill>
            <a:schemeClr val="bg1">
              <a:lumMod val="85000"/>
              <a:alpha val="33000"/>
            </a:schemeClr>
          </a:solidFill>
          <a:ln w="60325" cap="flat" cmpd="sng" algn="ctr">
            <a:noFill/>
            <a:prstDash val="solid"/>
            <a:headEnd type="none" w="med" len="med"/>
            <a:tailEnd type="none" w="med" len="med"/>
          </a:ln>
          <a:effectLst/>
        </p:spPr>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defTabSz="685577" fontAlgn="base">
              <a:spcBef>
                <a:spcPct val="0"/>
              </a:spcBef>
              <a:spcAft>
                <a:spcPct val="0"/>
              </a:spcAft>
              <a:defRPr/>
            </a:pPr>
            <a:endParaRPr lang="en-GB" sz="1350" kern="0" dirty="0">
              <a:solidFill>
                <a:srgbClr val="000000"/>
              </a:solidFill>
              <a:latin typeface="Segoe UI"/>
              <a:cs typeface="Segoe UI" pitchFamily="34" charset="0"/>
            </a:endParaRPr>
          </a:p>
        </p:txBody>
      </p:sp>
      <p:sp>
        <p:nvSpPr>
          <p:cNvPr id="2" name="TextBox 1">
            <a:extLst>
              <a:ext uri="{FF2B5EF4-FFF2-40B4-BE49-F238E27FC236}">
                <a16:creationId xmlns:a16="http://schemas.microsoft.com/office/drawing/2014/main" id="{CC0C3F46-C4A4-1317-1825-38BA907CED4D}"/>
              </a:ext>
            </a:extLst>
          </p:cNvPr>
          <p:cNvSpPr txBox="1"/>
          <p:nvPr/>
        </p:nvSpPr>
        <p:spPr>
          <a:xfrm>
            <a:off x="428757" y="1363030"/>
            <a:ext cx="2036030" cy="230832"/>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775">
              <a:spcBef>
                <a:spcPts val="0"/>
              </a:spcBef>
              <a:defRPr/>
            </a:pPr>
            <a:r>
              <a:rPr lang="en-US" sz="1500" dirty="0">
                <a:gradFill>
                  <a:gsLst>
                    <a:gs pos="6993">
                      <a:srgbClr val="000000"/>
                    </a:gs>
                    <a:gs pos="20280">
                      <a:srgbClr val="000000"/>
                    </a:gs>
                  </a:gsLst>
                  <a:lin ang="0" scaled="0"/>
                </a:gradFill>
                <a:latin typeface="Segoe UI Semibold" panose="020B0702040204020203" pitchFamily="34" charset="0"/>
                <a:cs typeface="Segoe UI Semibold" panose="020B0702040204020203" pitchFamily="34" charset="0"/>
              </a:rPr>
              <a:t>Goal</a:t>
            </a:r>
          </a:p>
        </p:txBody>
      </p:sp>
      <p:sp>
        <p:nvSpPr>
          <p:cNvPr id="28" name="TextBox 27">
            <a:extLst>
              <a:ext uri="{FF2B5EF4-FFF2-40B4-BE49-F238E27FC236}">
                <a16:creationId xmlns:a16="http://schemas.microsoft.com/office/drawing/2014/main" id="{C28317A3-E445-0BD1-745E-CF021A448BB3}"/>
              </a:ext>
            </a:extLst>
          </p:cNvPr>
          <p:cNvSpPr txBox="1"/>
          <p:nvPr/>
        </p:nvSpPr>
        <p:spPr>
          <a:xfrm>
            <a:off x="427673" y="1722615"/>
            <a:ext cx="2038199" cy="369332"/>
          </a:xfrm>
          <a:prstGeom prst="rect">
            <a:avLst/>
          </a:prstGeom>
          <a:noFill/>
        </p:spPr>
        <p:txBody>
          <a:bodyPr wrap="square" lIns="0" tIns="0" rIns="0" bIns="0" rtlCol="0">
            <a:spAutoFit/>
          </a:bodyPr>
          <a:lstStyle/>
          <a:p>
            <a:pPr algn="ctr" defTabSz="685775">
              <a:defRPr/>
            </a:pPr>
            <a:r>
              <a:rPr lang="en-US" sz="1200" dirty="0">
                <a:solidFill>
                  <a:srgbClr val="000000"/>
                </a:solidFill>
                <a:latin typeface="Segoe UI"/>
              </a:rPr>
              <a:t>What do you want </a:t>
            </a:r>
          </a:p>
          <a:p>
            <a:pPr algn="ctr" defTabSz="685775">
              <a:defRPr/>
            </a:pPr>
            <a:r>
              <a:rPr lang="en-US" sz="1200" dirty="0">
                <a:solidFill>
                  <a:srgbClr val="000000"/>
                </a:solidFill>
                <a:latin typeface="Segoe UI"/>
              </a:rPr>
              <a:t>from Copilot?</a:t>
            </a:r>
          </a:p>
        </p:txBody>
      </p:sp>
      <p:sp>
        <p:nvSpPr>
          <p:cNvPr id="35" name="TextBox 34">
            <a:extLst>
              <a:ext uri="{FF2B5EF4-FFF2-40B4-BE49-F238E27FC236}">
                <a16:creationId xmlns:a16="http://schemas.microsoft.com/office/drawing/2014/main" id="{90F81CC0-BEBA-02D6-C0BA-07AC58D7EDA2}"/>
              </a:ext>
            </a:extLst>
          </p:cNvPr>
          <p:cNvSpPr txBox="1"/>
          <p:nvPr/>
        </p:nvSpPr>
        <p:spPr>
          <a:xfrm>
            <a:off x="768347" y="2506957"/>
            <a:ext cx="1356849" cy="369332"/>
          </a:xfrm>
          <a:prstGeom prst="rect">
            <a:avLst/>
          </a:prstGeom>
          <a:noFill/>
        </p:spPr>
        <p:txBody>
          <a:bodyPr wrap="square" lIns="0" tIns="0" rIns="0" bIns="0" rtlCol="0">
            <a:spAutoFit/>
          </a:bodyPr>
          <a:lstStyle/>
          <a:p>
            <a:pPr algn="ctr" defTabSz="685775">
              <a:defRPr/>
            </a:pPr>
            <a:r>
              <a:rPr lang="en-US" sz="1200" dirty="0">
                <a:latin typeface="Segoe UI"/>
              </a:rPr>
              <a:t>Recap this Teams meeting.</a:t>
            </a:r>
          </a:p>
        </p:txBody>
      </p:sp>
      <p:sp>
        <p:nvSpPr>
          <p:cNvPr id="17" name="Rectangle: Rounded Corners 36">
            <a:extLst>
              <a:ext uri="{FF2B5EF4-FFF2-40B4-BE49-F238E27FC236}">
                <a16:creationId xmlns:a16="http://schemas.microsoft.com/office/drawing/2014/main" id="{A75E8A70-9D7F-330F-C0A0-CE240931C45D}"/>
              </a:ext>
              <a:ext uri="{C183D7F6-B498-43B3-948B-1728B52AA6E4}">
                <adec:decorative xmlns:adec="http://schemas.microsoft.com/office/drawing/2017/decorative" val="1"/>
              </a:ext>
            </a:extLst>
          </p:cNvPr>
          <p:cNvSpPr>
            <a:spLocks/>
          </p:cNvSpPr>
          <p:nvPr/>
        </p:nvSpPr>
        <p:spPr>
          <a:xfrm rot="16200000">
            <a:off x="2577531" y="1173404"/>
            <a:ext cx="1874673" cy="1988820"/>
          </a:xfrm>
          <a:prstGeom prst="roundRect">
            <a:avLst>
              <a:gd name="adj" fmla="val 2772"/>
            </a:avLst>
          </a:prstGeom>
          <a:solidFill>
            <a:schemeClr val="bg1">
              <a:lumMod val="85000"/>
              <a:alpha val="33000"/>
            </a:schemeClr>
          </a:solidFill>
          <a:ln w="60325" cap="flat" cmpd="sng" algn="ctr">
            <a:noFill/>
            <a:prstDash val="solid"/>
            <a:headEnd type="none" w="med" len="med"/>
            <a:tailEnd type="none" w="med" len="med"/>
          </a:ln>
          <a:effectLst/>
        </p:spPr>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defTabSz="685577" fontAlgn="base">
              <a:spcBef>
                <a:spcPct val="0"/>
              </a:spcBef>
              <a:spcAft>
                <a:spcPct val="0"/>
              </a:spcAft>
              <a:defRPr/>
            </a:pPr>
            <a:endParaRPr lang="en-GB" sz="1350" kern="0" dirty="0">
              <a:solidFill>
                <a:srgbClr val="000000"/>
              </a:solidFill>
              <a:latin typeface="Segoe UI"/>
              <a:cs typeface="Segoe UI" pitchFamily="34" charset="0"/>
            </a:endParaRPr>
          </a:p>
        </p:txBody>
      </p:sp>
      <p:sp>
        <p:nvSpPr>
          <p:cNvPr id="8" name="TextBox 7">
            <a:extLst>
              <a:ext uri="{FF2B5EF4-FFF2-40B4-BE49-F238E27FC236}">
                <a16:creationId xmlns:a16="http://schemas.microsoft.com/office/drawing/2014/main" id="{A6307866-B237-BF7E-7A40-E00B25213584}"/>
              </a:ext>
            </a:extLst>
          </p:cNvPr>
          <p:cNvSpPr txBox="1"/>
          <p:nvPr/>
        </p:nvSpPr>
        <p:spPr>
          <a:xfrm>
            <a:off x="2496853" y="1363030"/>
            <a:ext cx="2036030" cy="230832"/>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99337">
              <a:spcBef>
                <a:spcPts val="150"/>
              </a:spcBef>
              <a:defRPr/>
            </a:pPr>
            <a:r>
              <a:rPr lang="en-US" sz="1500" dirty="0">
                <a:gradFill>
                  <a:gsLst>
                    <a:gs pos="6993">
                      <a:srgbClr val="000000"/>
                    </a:gs>
                    <a:gs pos="20280">
                      <a:srgbClr val="000000"/>
                    </a:gs>
                  </a:gsLst>
                  <a:lin ang="0" scaled="0"/>
                </a:gradFill>
                <a:latin typeface="Segoe UI Semibold" panose="020B0702040204020203" pitchFamily="34" charset="0"/>
                <a:cs typeface="Segoe UI Semibold" panose="020B0702040204020203" pitchFamily="34" charset="0"/>
              </a:rPr>
              <a:t>Context</a:t>
            </a:r>
          </a:p>
        </p:txBody>
      </p:sp>
      <p:sp>
        <p:nvSpPr>
          <p:cNvPr id="29" name="TextBox 28">
            <a:extLst>
              <a:ext uri="{FF2B5EF4-FFF2-40B4-BE49-F238E27FC236}">
                <a16:creationId xmlns:a16="http://schemas.microsoft.com/office/drawing/2014/main" id="{D2E96D7D-8AEC-5691-1469-570BF0081085}"/>
              </a:ext>
            </a:extLst>
          </p:cNvPr>
          <p:cNvSpPr txBox="1"/>
          <p:nvPr/>
        </p:nvSpPr>
        <p:spPr>
          <a:xfrm>
            <a:off x="2500830" y="1771832"/>
            <a:ext cx="2028077" cy="369332"/>
          </a:xfrm>
          <a:prstGeom prst="rect">
            <a:avLst/>
          </a:prstGeom>
          <a:noFill/>
        </p:spPr>
        <p:txBody>
          <a:bodyPr wrap="square" lIns="0" tIns="0" rIns="0" bIns="0" rtlCol="0">
            <a:spAutoFit/>
          </a:bodyPr>
          <a:lstStyle/>
          <a:p>
            <a:pPr algn="ctr" defTabSz="685775">
              <a:defRPr/>
            </a:pPr>
            <a:r>
              <a:rPr lang="en-US" sz="1200" dirty="0">
                <a:solidFill>
                  <a:srgbClr val="000000"/>
                </a:solidFill>
                <a:latin typeface="Segoe UI"/>
              </a:rPr>
              <a:t>Why do you need it </a:t>
            </a:r>
          </a:p>
          <a:p>
            <a:pPr algn="ctr" defTabSz="685775">
              <a:defRPr/>
            </a:pPr>
            <a:r>
              <a:rPr lang="en-US" sz="1200" dirty="0">
                <a:solidFill>
                  <a:srgbClr val="000000"/>
                </a:solidFill>
                <a:latin typeface="Segoe UI"/>
              </a:rPr>
              <a:t>and who is involved?</a:t>
            </a:r>
          </a:p>
        </p:txBody>
      </p:sp>
      <p:sp>
        <p:nvSpPr>
          <p:cNvPr id="36" name="TextBox 35">
            <a:extLst>
              <a:ext uri="{FF2B5EF4-FFF2-40B4-BE49-F238E27FC236}">
                <a16:creationId xmlns:a16="http://schemas.microsoft.com/office/drawing/2014/main" id="{2F0BB548-DCB4-62F5-1DFA-53F7E9EE91CA}"/>
              </a:ext>
            </a:extLst>
          </p:cNvPr>
          <p:cNvSpPr txBox="1"/>
          <p:nvPr/>
        </p:nvSpPr>
        <p:spPr>
          <a:xfrm>
            <a:off x="2839212" y="2306698"/>
            <a:ext cx="1356849" cy="738664"/>
          </a:xfrm>
          <a:prstGeom prst="rect">
            <a:avLst/>
          </a:prstGeom>
          <a:noFill/>
        </p:spPr>
        <p:txBody>
          <a:bodyPr wrap="square" lIns="0" tIns="0" rIns="0" bIns="0" rtlCol="0">
            <a:spAutoFit/>
          </a:bodyPr>
          <a:lstStyle/>
          <a:p>
            <a:pPr algn="ctr" defTabSz="685775">
              <a:defRPr/>
            </a:pPr>
            <a:r>
              <a:rPr lang="en-US" sz="1200" dirty="0">
                <a:latin typeface="Segoe UI"/>
              </a:rPr>
              <a:t>“I was late to attend and need a brief overview of the project timeline.”</a:t>
            </a:r>
          </a:p>
        </p:txBody>
      </p:sp>
      <p:sp>
        <p:nvSpPr>
          <p:cNvPr id="18" name="Rectangle: Rounded Corners 36">
            <a:extLst>
              <a:ext uri="{FF2B5EF4-FFF2-40B4-BE49-F238E27FC236}">
                <a16:creationId xmlns:a16="http://schemas.microsoft.com/office/drawing/2014/main" id="{9472CB4A-A9B7-925B-D5FF-4BDB5A3FA3F2}"/>
              </a:ext>
              <a:ext uri="{C183D7F6-B498-43B3-948B-1728B52AA6E4}">
                <adec:decorative xmlns:adec="http://schemas.microsoft.com/office/drawing/2017/decorative" val="1"/>
              </a:ext>
            </a:extLst>
          </p:cNvPr>
          <p:cNvSpPr>
            <a:spLocks/>
          </p:cNvSpPr>
          <p:nvPr/>
        </p:nvSpPr>
        <p:spPr>
          <a:xfrm rot="16200000">
            <a:off x="4660139" y="1173404"/>
            <a:ext cx="1874673" cy="1988820"/>
          </a:xfrm>
          <a:prstGeom prst="roundRect">
            <a:avLst>
              <a:gd name="adj" fmla="val 2772"/>
            </a:avLst>
          </a:prstGeom>
          <a:solidFill>
            <a:schemeClr val="bg1">
              <a:lumMod val="85000"/>
              <a:alpha val="33000"/>
            </a:schemeClr>
          </a:solidFill>
          <a:ln w="60325" cap="flat" cmpd="sng" algn="ctr">
            <a:noFill/>
            <a:prstDash val="solid"/>
            <a:headEnd type="none" w="med" len="med"/>
            <a:tailEnd type="none" w="med" len="med"/>
          </a:ln>
          <a:effectLst/>
        </p:spPr>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defTabSz="685577" fontAlgn="base">
              <a:spcBef>
                <a:spcPct val="0"/>
              </a:spcBef>
              <a:spcAft>
                <a:spcPct val="0"/>
              </a:spcAft>
              <a:defRPr/>
            </a:pPr>
            <a:endParaRPr lang="en-GB" sz="1350" kern="0" dirty="0">
              <a:solidFill>
                <a:srgbClr val="000000"/>
              </a:solidFill>
              <a:latin typeface="Segoe UI"/>
              <a:cs typeface="Segoe UI" pitchFamily="34" charset="0"/>
            </a:endParaRPr>
          </a:p>
        </p:txBody>
      </p:sp>
      <p:sp>
        <p:nvSpPr>
          <p:cNvPr id="41" name="TextBox 40">
            <a:extLst>
              <a:ext uri="{FF2B5EF4-FFF2-40B4-BE49-F238E27FC236}">
                <a16:creationId xmlns:a16="http://schemas.microsoft.com/office/drawing/2014/main" id="{3774CA4B-3AE6-1E77-0D93-348F15AA6B65}"/>
              </a:ext>
            </a:extLst>
          </p:cNvPr>
          <p:cNvSpPr txBox="1"/>
          <p:nvPr/>
        </p:nvSpPr>
        <p:spPr>
          <a:xfrm>
            <a:off x="4579461" y="1363030"/>
            <a:ext cx="2036030" cy="230832"/>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99337">
              <a:spcBef>
                <a:spcPts val="150"/>
              </a:spcBef>
              <a:defRPr/>
            </a:pPr>
            <a:r>
              <a:rPr lang="en-US" sz="1500" dirty="0">
                <a:gradFill>
                  <a:gsLst>
                    <a:gs pos="6993">
                      <a:srgbClr val="000000"/>
                    </a:gs>
                    <a:gs pos="20280">
                      <a:srgbClr val="000000"/>
                    </a:gs>
                  </a:gsLst>
                  <a:lin ang="0" scaled="0"/>
                </a:gradFill>
                <a:latin typeface="Segoe UI Semibold" panose="020B0702040204020203" pitchFamily="34" charset="0"/>
                <a:cs typeface="Segoe UI Semibold" panose="020B0702040204020203" pitchFamily="34" charset="0"/>
              </a:rPr>
              <a:t>Source(s)</a:t>
            </a:r>
          </a:p>
        </p:txBody>
      </p:sp>
      <p:sp>
        <p:nvSpPr>
          <p:cNvPr id="30" name="TextBox 29">
            <a:extLst>
              <a:ext uri="{FF2B5EF4-FFF2-40B4-BE49-F238E27FC236}">
                <a16:creationId xmlns:a16="http://schemas.microsoft.com/office/drawing/2014/main" id="{1FE6E68D-FC50-AC70-9285-E5F4DE858CD5}"/>
              </a:ext>
            </a:extLst>
          </p:cNvPr>
          <p:cNvSpPr txBox="1"/>
          <p:nvPr/>
        </p:nvSpPr>
        <p:spPr>
          <a:xfrm>
            <a:off x="4680872" y="1722615"/>
            <a:ext cx="1833206" cy="553998"/>
          </a:xfrm>
          <a:prstGeom prst="rect">
            <a:avLst/>
          </a:prstGeom>
          <a:noFill/>
        </p:spPr>
        <p:txBody>
          <a:bodyPr wrap="square" lIns="0" tIns="0" rIns="0" bIns="0" rtlCol="0">
            <a:spAutoFit/>
          </a:bodyPr>
          <a:lstStyle/>
          <a:p>
            <a:pPr marL="68580" algn="ctr" defTabSz="699422">
              <a:spcAft>
                <a:spcPts val="900"/>
              </a:spcAft>
              <a:buSzPct val="90000"/>
              <a:defRPr/>
            </a:pPr>
            <a:r>
              <a:rPr lang="en-US" sz="1200" dirty="0">
                <a:solidFill>
                  <a:srgbClr val="000000"/>
                </a:solidFill>
                <a:latin typeface="Segoe UI"/>
              </a:rPr>
              <a:t>What information or samples do you want Copilot to use?</a:t>
            </a:r>
          </a:p>
        </p:txBody>
      </p:sp>
      <p:sp>
        <p:nvSpPr>
          <p:cNvPr id="38" name="TextBox 37">
            <a:extLst>
              <a:ext uri="{FF2B5EF4-FFF2-40B4-BE49-F238E27FC236}">
                <a16:creationId xmlns:a16="http://schemas.microsoft.com/office/drawing/2014/main" id="{E75170F5-4D97-A54B-862C-388D1D76064A}"/>
              </a:ext>
            </a:extLst>
          </p:cNvPr>
          <p:cNvSpPr txBox="1"/>
          <p:nvPr/>
        </p:nvSpPr>
        <p:spPr>
          <a:xfrm>
            <a:off x="4919051" y="2425061"/>
            <a:ext cx="1356849" cy="553998"/>
          </a:xfrm>
          <a:prstGeom prst="rect">
            <a:avLst/>
          </a:prstGeom>
          <a:noFill/>
        </p:spPr>
        <p:txBody>
          <a:bodyPr wrap="square" lIns="0" tIns="0" rIns="0" bIns="0" rtlCol="0">
            <a:spAutoFit/>
          </a:bodyPr>
          <a:lstStyle/>
          <a:p>
            <a:pPr lvl="0" algn="ctr">
              <a:defRPr/>
            </a:pPr>
            <a:r>
              <a:rPr lang="en-US" sz="1200" dirty="0">
                <a:latin typeface="Segoe UI"/>
              </a:rPr>
              <a:t>“Did Adele Vance propose any changes?”</a:t>
            </a:r>
          </a:p>
        </p:txBody>
      </p:sp>
      <p:sp>
        <p:nvSpPr>
          <p:cNvPr id="19" name="Rectangle: Rounded Corners 36">
            <a:extLst>
              <a:ext uri="{FF2B5EF4-FFF2-40B4-BE49-F238E27FC236}">
                <a16:creationId xmlns:a16="http://schemas.microsoft.com/office/drawing/2014/main" id="{708359E4-75D5-099E-1630-F66A1FB045FD}"/>
              </a:ext>
              <a:ext uri="{C183D7F6-B498-43B3-948B-1728B52AA6E4}">
                <adec:decorative xmlns:adec="http://schemas.microsoft.com/office/drawing/2017/decorative" val="1"/>
              </a:ext>
            </a:extLst>
          </p:cNvPr>
          <p:cNvSpPr>
            <a:spLocks/>
          </p:cNvSpPr>
          <p:nvPr/>
        </p:nvSpPr>
        <p:spPr>
          <a:xfrm rot="16200000">
            <a:off x="6730235" y="1173402"/>
            <a:ext cx="1874670" cy="1988820"/>
          </a:xfrm>
          <a:prstGeom prst="roundRect">
            <a:avLst>
              <a:gd name="adj" fmla="val 2772"/>
            </a:avLst>
          </a:prstGeom>
          <a:solidFill>
            <a:schemeClr val="bg1">
              <a:lumMod val="85000"/>
              <a:alpha val="33000"/>
            </a:schemeClr>
          </a:solidFill>
          <a:ln w="60325" cap="flat" cmpd="sng" algn="ctr">
            <a:noFill/>
            <a:prstDash val="solid"/>
            <a:headEnd type="none" w="med" len="med"/>
            <a:tailEnd type="none" w="med" len="med"/>
          </a:ln>
          <a:effectLst/>
        </p:spPr>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defTabSz="685577" fontAlgn="base">
              <a:spcBef>
                <a:spcPct val="0"/>
              </a:spcBef>
              <a:spcAft>
                <a:spcPct val="0"/>
              </a:spcAft>
              <a:defRPr/>
            </a:pPr>
            <a:endParaRPr lang="en-GB" sz="1350" kern="0" dirty="0">
              <a:solidFill>
                <a:srgbClr val="000000"/>
              </a:solidFill>
              <a:latin typeface="Segoe UI"/>
              <a:cs typeface="Segoe UI" pitchFamily="34" charset="0"/>
            </a:endParaRPr>
          </a:p>
        </p:txBody>
      </p:sp>
      <p:sp>
        <p:nvSpPr>
          <p:cNvPr id="20" name="TextBox 19">
            <a:extLst>
              <a:ext uri="{FF2B5EF4-FFF2-40B4-BE49-F238E27FC236}">
                <a16:creationId xmlns:a16="http://schemas.microsoft.com/office/drawing/2014/main" id="{5BC1D5CF-DDAF-B600-7496-228A5268DF69}"/>
              </a:ext>
            </a:extLst>
          </p:cNvPr>
          <p:cNvSpPr txBox="1"/>
          <p:nvPr/>
        </p:nvSpPr>
        <p:spPr>
          <a:xfrm>
            <a:off x="6649555" y="1363030"/>
            <a:ext cx="2036030" cy="230832"/>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99337">
              <a:spcBef>
                <a:spcPts val="150"/>
              </a:spcBef>
              <a:defRPr/>
            </a:pPr>
            <a:r>
              <a:rPr lang="en-US" sz="1500" dirty="0">
                <a:gradFill>
                  <a:gsLst>
                    <a:gs pos="6993">
                      <a:srgbClr val="000000"/>
                    </a:gs>
                    <a:gs pos="20280">
                      <a:srgbClr val="000000"/>
                    </a:gs>
                  </a:gsLst>
                  <a:lin ang="0" scaled="0"/>
                </a:gradFill>
                <a:latin typeface="Segoe UI Semibold" panose="020B0702040204020203" pitchFamily="34" charset="0"/>
                <a:cs typeface="Segoe UI Semibold" panose="020B0702040204020203" pitchFamily="34" charset="0"/>
              </a:rPr>
              <a:t>Expectations</a:t>
            </a:r>
          </a:p>
        </p:txBody>
      </p:sp>
      <p:sp>
        <p:nvSpPr>
          <p:cNvPr id="21" name="TextBox 20">
            <a:extLst>
              <a:ext uri="{FF2B5EF4-FFF2-40B4-BE49-F238E27FC236}">
                <a16:creationId xmlns:a16="http://schemas.microsoft.com/office/drawing/2014/main" id="{497F0592-2A55-5354-FF30-8DE743FD4216}"/>
              </a:ext>
            </a:extLst>
          </p:cNvPr>
          <p:cNvSpPr txBox="1"/>
          <p:nvPr/>
        </p:nvSpPr>
        <p:spPr>
          <a:xfrm>
            <a:off x="6765433" y="1722615"/>
            <a:ext cx="1804274" cy="553998"/>
          </a:xfrm>
          <a:prstGeom prst="rect">
            <a:avLst/>
          </a:prstGeom>
          <a:noFill/>
        </p:spPr>
        <p:txBody>
          <a:bodyPr wrap="square" lIns="0" tIns="0" rIns="0" bIns="0" rtlCol="0">
            <a:spAutoFit/>
          </a:bodyPr>
          <a:lstStyle/>
          <a:p>
            <a:pPr algn="ctr" defTabSz="685775">
              <a:defRPr/>
            </a:pPr>
            <a:r>
              <a:rPr lang="en-US" sz="1200" dirty="0">
                <a:solidFill>
                  <a:srgbClr val="000000"/>
                </a:solidFill>
                <a:latin typeface="Segoe UI"/>
              </a:rPr>
              <a:t>How should Copilot respond to best fulfill </a:t>
            </a:r>
          </a:p>
          <a:p>
            <a:pPr algn="ctr" defTabSz="685775">
              <a:defRPr/>
            </a:pPr>
            <a:r>
              <a:rPr lang="en-US" sz="1200" dirty="0">
                <a:solidFill>
                  <a:srgbClr val="000000"/>
                </a:solidFill>
                <a:latin typeface="Segoe UI"/>
              </a:rPr>
              <a:t>your request?</a:t>
            </a:r>
          </a:p>
        </p:txBody>
      </p:sp>
      <p:sp>
        <p:nvSpPr>
          <p:cNvPr id="39" name="TextBox 38">
            <a:extLst>
              <a:ext uri="{FF2B5EF4-FFF2-40B4-BE49-F238E27FC236}">
                <a16:creationId xmlns:a16="http://schemas.microsoft.com/office/drawing/2014/main" id="{2DB7363F-34A1-1801-CFFA-3C79740D177D}"/>
              </a:ext>
            </a:extLst>
          </p:cNvPr>
          <p:cNvSpPr txBox="1"/>
          <p:nvPr/>
        </p:nvSpPr>
        <p:spPr>
          <a:xfrm>
            <a:off x="6853102" y="2344270"/>
            <a:ext cx="1628935" cy="738664"/>
          </a:xfrm>
          <a:prstGeom prst="rect">
            <a:avLst/>
          </a:prstGeom>
          <a:noFill/>
        </p:spPr>
        <p:txBody>
          <a:bodyPr wrap="square" lIns="0" tIns="0" rIns="0" bIns="0" rtlCol="0">
            <a:spAutoFit/>
          </a:bodyPr>
          <a:lstStyle/>
          <a:p>
            <a:pPr lvl="0" algn="ctr">
              <a:defRPr/>
            </a:pPr>
            <a:r>
              <a:rPr lang="en-US" sz="1200" dirty="0">
                <a:latin typeface="Segoe UI"/>
              </a:rPr>
              <a:t>"Include the project timeline in a table and any proposed changes from Adele."</a:t>
            </a:r>
          </a:p>
        </p:txBody>
      </p:sp>
      <p:sp>
        <p:nvSpPr>
          <p:cNvPr id="25" name="Rectangle: Rounded Corners 36">
            <a:extLst>
              <a:ext uri="{FF2B5EF4-FFF2-40B4-BE49-F238E27FC236}">
                <a16:creationId xmlns:a16="http://schemas.microsoft.com/office/drawing/2014/main" id="{2D5D3FE6-12A9-561C-E21D-78E196FE1D50}"/>
              </a:ext>
              <a:ext uri="{C183D7F6-B498-43B3-948B-1728B52AA6E4}">
                <adec:decorative xmlns:adec="http://schemas.microsoft.com/office/drawing/2017/decorative" val="1"/>
              </a:ext>
            </a:extLst>
          </p:cNvPr>
          <p:cNvSpPr>
            <a:spLocks/>
          </p:cNvSpPr>
          <p:nvPr/>
        </p:nvSpPr>
        <p:spPr>
          <a:xfrm rot="16200000">
            <a:off x="3774076" y="-149861"/>
            <a:ext cx="1569719" cy="8229600"/>
          </a:xfrm>
          <a:prstGeom prst="roundRect">
            <a:avLst>
              <a:gd name="adj" fmla="val 2772"/>
            </a:avLst>
          </a:prstGeom>
          <a:solidFill>
            <a:schemeClr val="bg1">
              <a:lumMod val="85000"/>
              <a:alpha val="33000"/>
            </a:schemeClr>
          </a:solidFill>
          <a:ln w="60325" cap="flat" cmpd="sng" algn="ctr">
            <a:noFill/>
            <a:prstDash val="solid"/>
            <a:headEnd type="none" w="med" len="med"/>
            <a:tailEnd type="none" w="med" len="med"/>
          </a:ln>
          <a:effectLst/>
        </p:spPr>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defTabSz="685577" fontAlgn="base">
              <a:spcBef>
                <a:spcPct val="0"/>
              </a:spcBef>
              <a:spcAft>
                <a:spcPct val="0"/>
              </a:spcAft>
              <a:defRPr/>
            </a:pPr>
            <a:endParaRPr lang="en-GB" sz="1350" kern="0" dirty="0">
              <a:solidFill>
                <a:srgbClr val="000000"/>
              </a:solidFill>
              <a:latin typeface="Segoe UI"/>
              <a:cs typeface="Segoe UI" pitchFamily="34" charset="0"/>
            </a:endParaRPr>
          </a:p>
        </p:txBody>
      </p:sp>
      <p:grpSp>
        <p:nvGrpSpPr>
          <p:cNvPr id="24" name="Group 23">
            <a:extLst>
              <a:ext uri="{FF2B5EF4-FFF2-40B4-BE49-F238E27FC236}">
                <a16:creationId xmlns:a16="http://schemas.microsoft.com/office/drawing/2014/main" id="{D309AB50-8C58-FE64-F56B-02A65C31A2F5}"/>
              </a:ext>
              <a:ext uri="{C183D7F6-B498-43B3-948B-1728B52AA6E4}">
                <adec:decorative xmlns:adec="http://schemas.microsoft.com/office/drawing/2017/decorative" val="1"/>
              </a:ext>
            </a:extLst>
          </p:cNvPr>
          <p:cNvGrpSpPr/>
          <p:nvPr/>
        </p:nvGrpSpPr>
        <p:grpSpPr>
          <a:xfrm>
            <a:off x="1134554" y="3540648"/>
            <a:ext cx="6924675" cy="994496"/>
            <a:chOff x="1512738" y="4720861"/>
            <a:chExt cx="9232900" cy="1325993"/>
          </a:xfrm>
        </p:grpSpPr>
        <p:sp>
          <p:nvSpPr>
            <p:cNvPr id="13" name="TextBox 12">
              <a:extLst>
                <a:ext uri="{FF2B5EF4-FFF2-40B4-BE49-F238E27FC236}">
                  <a16:creationId xmlns:a16="http://schemas.microsoft.com/office/drawing/2014/main" id="{B9D1D1C3-3F08-6329-FC28-F40C17B29BA9}"/>
                </a:ext>
              </a:extLst>
            </p:cNvPr>
            <p:cNvSpPr txBox="1"/>
            <p:nvPr/>
          </p:nvSpPr>
          <p:spPr>
            <a:xfrm>
              <a:off x="4771837" y="4720861"/>
              <a:ext cx="2714705" cy="307776"/>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99337">
                <a:spcBef>
                  <a:spcPts val="150"/>
                </a:spcBef>
                <a:defRPr/>
              </a:pPr>
              <a:r>
                <a:rPr lang="en-US" sz="1500" dirty="0">
                  <a:gradFill>
                    <a:gsLst>
                      <a:gs pos="6993">
                        <a:srgbClr val="000000"/>
                      </a:gs>
                      <a:gs pos="20280">
                        <a:srgbClr val="000000"/>
                      </a:gs>
                    </a:gsLst>
                    <a:lin ang="0" scaled="0"/>
                  </a:gradFill>
                  <a:latin typeface="Segoe UI Semibold" panose="020B0702040204020203" pitchFamily="34" charset="0"/>
                  <a:cs typeface="Segoe UI Semibold" panose="020B0702040204020203" pitchFamily="34" charset="0"/>
                </a:rPr>
                <a:t>Final Prompt</a:t>
              </a:r>
            </a:p>
          </p:txBody>
        </p:sp>
        <p:sp>
          <p:nvSpPr>
            <p:cNvPr id="32" name="TextBox 31">
              <a:extLst>
                <a:ext uri="{FF2B5EF4-FFF2-40B4-BE49-F238E27FC236}">
                  <a16:creationId xmlns:a16="http://schemas.microsoft.com/office/drawing/2014/main" id="{A6382FBC-5F1A-8CD9-279D-A75BB8F407AC}"/>
                </a:ext>
              </a:extLst>
            </p:cNvPr>
            <p:cNvSpPr txBox="1"/>
            <p:nvPr/>
          </p:nvSpPr>
          <p:spPr>
            <a:xfrm>
              <a:off x="1512738" y="5092747"/>
              <a:ext cx="9232900" cy="954107"/>
            </a:xfrm>
            <a:prstGeom prst="rect">
              <a:avLst/>
            </a:prstGeom>
            <a:noFill/>
          </p:spPr>
          <p:txBody>
            <a:bodyPr wrap="square">
              <a:spAutoFit/>
            </a:bodyPr>
            <a:lstStyle/>
            <a:p>
              <a:pPr algn="ctr" defTabSz="685775">
                <a:defRPr/>
              </a:pPr>
              <a:r>
                <a:rPr lang="en-US" sz="1350" dirty="0">
                  <a:latin typeface="Segoe UI"/>
                </a:rPr>
                <a:t>Recap this Teams meeting. I was late to attend and need a brief overview of the project timeline. Did Adele Vance propose any changes? Include the project timeline in a table and any proposed changes from Adele.</a:t>
              </a:r>
            </a:p>
          </p:txBody>
        </p:sp>
      </p:grpSp>
      <p:grpSp>
        <p:nvGrpSpPr>
          <p:cNvPr id="5" name="Group 4">
            <a:extLst>
              <a:ext uri="{FF2B5EF4-FFF2-40B4-BE49-F238E27FC236}">
                <a16:creationId xmlns:a16="http://schemas.microsoft.com/office/drawing/2014/main" id="{7F74F97E-DA84-A531-B461-C75323915477}"/>
              </a:ext>
              <a:ext uri="{C183D7F6-B498-43B3-948B-1728B52AA6E4}">
                <adec:decorative xmlns:adec="http://schemas.microsoft.com/office/drawing/2017/decorative" val="1"/>
              </a:ext>
            </a:extLst>
          </p:cNvPr>
          <p:cNvGrpSpPr/>
          <p:nvPr/>
        </p:nvGrpSpPr>
        <p:grpSpPr>
          <a:xfrm>
            <a:off x="2338080" y="1996698"/>
            <a:ext cx="280907" cy="323165"/>
            <a:chOff x="3117440" y="2662263"/>
            <a:chExt cx="374542" cy="430887"/>
          </a:xfrm>
        </p:grpSpPr>
        <p:sp>
          <p:nvSpPr>
            <p:cNvPr id="3" name="Oval 2">
              <a:extLst>
                <a:ext uri="{FF2B5EF4-FFF2-40B4-BE49-F238E27FC236}">
                  <a16:creationId xmlns:a16="http://schemas.microsoft.com/office/drawing/2014/main" id="{C7A1B01E-2DD4-EFE4-E99B-17AB38ADEE02}"/>
                </a:ext>
                <a:ext uri="{C183D7F6-B498-43B3-948B-1728B52AA6E4}">
                  <adec:decorative xmlns:adec="http://schemas.microsoft.com/office/drawing/2017/decorative" val="1"/>
                </a:ext>
              </a:extLst>
            </p:cNvPr>
            <p:cNvSpPr/>
            <p:nvPr/>
          </p:nvSpPr>
          <p:spPr bwMode="auto">
            <a:xfrm>
              <a:off x="3117440" y="2701056"/>
              <a:ext cx="374542" cy="374542"/>
            </a:xfrm>
            <a:prstGeom prst="ellipse">
              <a:avLst/>
            </a:prstGeom>
            <a:gradFill flip="none" rotWithShape="1">
              <a:gsLst>
                <a:gs pos="0">
                  <a:srgbClr val="0078D4"/>
                </a:gs>
                <a:gs pos="80000">
                  <a:srgbClr val="399A91"/>
                </a:gs>
              </a:gsLst>
              <a:path path="circle">
                <a:fillToRect l="100000" t="100000"/>
              </a:path>
              <a:tileRect r="-100000" b="-100000"/>
            </a:gradFill>
            <a:ln w="63897" cap="flat">
              <a:noFill/>
              <a:prstDash val="solid"/>
              <a:miter/>
            </a:ln>
            <a:effectLst>
              <a:outerShdw blurRad="63500" dist="63500" dir="2400000" algn="tl" rotWithShape="0">
                <a:srgbClr val="000000">
                  <a:alpha val="50000"/>
                </a:srgb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defTabSz="685800">
                <a:defRPr/>
              </a:pPr>
              <a:endParaRPr lang="en-US" sz="450" dirty="0">
                <a:solidFill>
                  <a:srgbClr val="FFFFFF"/>
                </a:solidFill>
                <a:latin typeface="Segoe UI"/>
              </a:endParaRPr>
            </a:p>
          </p:txBody>
        </p:sp>
        <p:sp>
          <p:nvSpPr>
            <p:cNvPr id="27" name="TextBox 26">
              <a:extLst>
                <a:ext uri="{FF2B5EF4-FFF2-40B4-BE49-F238E27FC236}">
                  <a16:creationId xmlns:a16="http://schemas.microsoft.com/office/drawing/2014/main" id="{68C510C0-F46A-EE46-45F1-F03C0A49BB7D}"/>
                </a:ext>
                <a:ext uri="{C183D7F6-B498-43B3-948B-1728B52AA6E4}">
                  <adec:decorative xmlns:adec="http://schemas.microsoft.com/office/drawing/2017/decorative" val="0"/>
                </a:ext>
              </a:extLst>
            </p:cNvPr>
            <p:cNvSpPr txBox="1"/>
            <p:nvPr/>
          </p:nvSpPr>
          <p:spPr>
            <a:xfrm>
              <a:off x="3193248" y="2662263"/>
              <a:ext cx="236228" cy="430887"/>
            </a:xfrm>
            <a:prstGeom prst="rect">
              <a:avLst/>
            </a:prstGeom>
            <a:noFill/>
          </p:spPr>
          <p:txBody>
            <a:bodyPr wrap="square" lIns="0" tIns="0" rIns="0" bIns="0" rtlCol="0">
              <a:spAutoFit/>
            </a:bodyPr>
            <a:lstStyle/>
            <a:p>
              <a:pPr algn="ctr" defTabSz="685775">
                <a:defRPr/>
              </a:pPr>
              <a:r>
                <a:rPr lang="en-US" sz="2100" b="1" dirty="0">
                  <a:solidFill>
                    <a:srgbClr val="FFFFFF"/>
                  </a:solidFill>
                  <a:latin typeface="Segoe UI"/>
                </a:rPr>
                <a:t>+</a:t>
              </a:r>
            </a:p>
          </p:txBody>
        </p:sp>
      </p:grpSp>
      <p:grpSp>
        <p:nvGrpSpPr>
          <p:cNvPr id="10" name="Group 9">
            <a:extLst>
              <a:ext uri="{FF2B5EF4-FFF2-40B4-BE49-F238E27FC236}">
                <a16:creationId xmlns:a16="http://schemas.microsoft.com/office/drawing/2014/main" id="{3003370E-D32B-FB00-B873-5F7496032E8C}"/>
              </a:ext>
              <a:ext uri="{C183D7F6-B498-43B3-948B-1728B52AA6E4}">
                <adec:decorative xmlns:adec="http://schemas.microsoft.com/office/drawing/2017/decorative" val="1"/>
              </a:ext>
            </a:extLst>
          </p:cNvPr>
          <p:cNvGrpSpPr/>
          <p:nvPr/>
        </p:nvGrpSpPr>
        <p:grpSpPr>
          <a:xfrm>
            <a:off x="4407229" y="1996698"/>
            <a:ext cx="280907" cy="323165"/>
            <a:chOff x="5876306" y="2662263"/>
            <a:chExt cx="374542" cy="430887"/>
          </a:xfrm>
        </p:grpSpPr>
        <p:sp>
          <p:nvSpPr>
            <p:cNvPr id="42" name="Oval 41">
              <a:extLst>
                <a:ext uri="{FF2B5EF4-FFF2-40B4-BE49-F238E27FC236}">
                  <a16:creationId xmlns:a16="http://schemas.microsoft.com/office/drawing/2014/main" id="{F4D91027-E848-2BBD-D5EB-9E0D490E79D7}"/>
                </a:ext>
                <a:ext uri="{C183D7F6-B498-43B3-948B-1728B52AA6E4}">
                  <adec:decorative xmlns:adec="http://schemas.microsoft.com/office/drawing/2017/decorative" val="1"/>
                </a:ext>
              </a:extLst>
            </p:cNvPr>
            <p:cNvSpPr/>
            <p:nvPr/>
          </p:nvSpPr>
          <p:spPr bwMode="auto">
            <a:xfrm>
              <a:off x="5876306" y="2701056"/>
              <a:ext cx="374542" cy="374542"/>
            </a:xfrm>
            <a:prstGeom prst="ellipse">
              <a:avLst/>
            </a:prstGeom>
            <a:gradFill flip="none" rotWithShape="1">
              <a:gsLst>
                <a:gs pos="0">
                  <a:srgbClr val="C03BC4"/>
                </a:gs>
                <a:gs pos="80000">
                  <a:srgbClr val="0078D4"/>
                </a:gs>
              </a:gsLst>
              <a:path path="circle">
                <a:fillToRect l="100000" t="100000"/>
              </a:path>
              <a:tileRect r="-100000" b="-100000"/>
            </a:gradFill>
            <a:ln w="63897" cap="flat">
              <a:noFill/>
              <a:prstDash val="solid"/>
              <a:miter/>
            </a:ln>
            <a:effectLst>
              <a:outerShdw blurRad="63500" dist="63500" dir="2400000" algn="tl" rotWithShape="0">
                <a:srgbClr val="000000">
                  <a:alpha val="50000"/>
                </a:srgb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defTabSz="685800">
                <a:defRPr/>
              </a:pPr>
              <a:endParaRPr lang="en-US" sz="450" dirty="0">
                <a:solidFill>
                  <a:srgbClr val="FFFFFF"/>
                </a:solidFill>
                <a:latin typeface="Segoe UI"/>
              </a:endParaRPr>
            </a:p>
          </p:txBody>
        </p:sp>
        <p:sp>
          <p:nvSpPr>
            <p:cNvPr id="43" name="TextBox 42">
              <a:extLst>
                <a:ext uri="{FF2B5EF4-FFF2-40B4-BE49-F238E27FC236}">
                  <a16:creationId xmlns:a16="http://schemas.microsoft.com/office/drawing/2014/main" id="{207D0C27-F28A-7549-59E5-1790082C77B9}"/>
                </a:ext>
                <a:ext uri="{C183D7F6-B498-43B3-948B-1728B52AA6E4}">
                  <adec:decorative xmlns:adec="http://schemas.microsoft.com/office/drawing/2017/decorative" val="0"/>
                </a:ext>
              </a:extLst>
            </p:cNvPr>
            <p:cNvSpPr txBox="1"/>
            <p:nvPr/>
          </p:nvSpPr>
          <p:spPr>
            <a:xfrm>
              <a:off x="5952114" y="2662263"/>
              <a:ext cx="236228" cy="430887"/>
            </a:xfrm>
            <a:prstGeom prst="rect">
              <a:avLst/>
            </a:prstGeom>
            <a:noFill/>
          </p:spPr>
          <p:txBody>
            <a:bodyPr wrap="square" lIns="0" tIns="0" rIns="0" bIns="0" rtlCol="0">
              <a:spAutoFit/>
            </a:bodyPr>
            <a:lstStyle/>
            <a:p>
              <a:pPr algn="ctr" defTabSz="685775">
                <a:defRPr/>
              </a:pPr>
              <a:r>
                <a:rPr lang="en-US" sz="2100" b="1" dirty="0">
                  <a:solidFill>
                    <a:srgbClr val="FFFFFF"/>
                  </a:solidFill>
                  <a:latin typeface="Segoe UI"/>
                </a:rPr>
                <a:t>+</a:t>
              </a:r>
            </a:p>
          </p:txBody>
        </p:sp>
      </p:grpSp>
      <p:grpSp>
        <p:nvGrpSpPr>
          <p:cNvPr id="15" name="Group 14">
            <a:extLst>
              <a:ext uri="{FF2B5EF4-FFF2-40B4-BE49-F238E27FC236}">
                <a16:creationId xmlns:a16="http://schemas.microsoft.com/office/drawing/2014/main" id="{45E18088-E4A1-4840-B81E-688578000C92}"/>
              </a:ext>
              <a:ext uri="{C183D7F6-B498-43B3-948B-1728B52AA6E4}">
                <adec:decorative xmlns:adec="http://schemas.microsoft.com/office/drawing/2017/decorative" val="1"/>
              </a:ext>
            </a:extLst>
          </p:cNvPr>
          <p:cNvGrpSpPr/>
          <p:nvPr/>
        </p:nvGrpSpPr>
        <p:grpSpPr>
          <a:xfrm>
            <a:off x="6480263" y="1996698"/>
            <a:ext cx="280907" cy="323165"/>
            <a:chOff x="8640351" y="2662263"/>
            <a:chExt cx="374542" cy="430887"/>
          </a:xfrm>
        </p:grpSpPr>
        <p:sp>
          <p:nvSpPr>
            <p:cNvPr id="44" name="Oval 43">
              <a:extLst>
                <a:ext uri="{FF2B5EF4-FFF2-40B4-BE49-F238E27FC236}">
                  <a16:creationId xmlns:a16="http://schemas.microsoft.com/office/drawing/2014/main" id="{F232FCF7-AC60-DC8C-2607-824E09FF4599}"/>
                </a:ext>
                <a:ext uri="{C183D7F6-B498-43B3-948B-1728B52AA6E4}">
                  <adec:decorative xmlns:adec="http://schemas.microsoft.com/office/drawing/2017/decorative" val="1"/>
                </a:ext>
              </a:extLst>
            </p:cNvPr>
            <p:cNvSpPr/>
            <p:nvPr/>
          </p:nvSpPr>
          <p:spPr bwMode="auto">
            <a:xfrm>
              <a:off x="8640351" y="2701056"/>
              <a:ext cx="374542" cy="374542"/>
            </a:xfrm>
            <a:prstGeom prst="ellipse">
              <a:avLst/>
            </a:prstGeom>
            <a:gradFill flip="none" rotWithShape="1">
              <a:gsLst>
                <a:gs pos="0">
                  <a:srgbClr val="FF5C39"/>
                </a:gs>
                <a:gs pos="80000">
                  <a:srgbClr val="C03BC4"/>
                </a:gs>
              </a:gsLst>
              <a:path path="circle">
                <a:fillToRect l="100000" t="100000"/>
              </a:path>
              <a:tileRect r="-100000" b="-100000"/>
            </a:gradFill>
            <a:ln w="63897" cap="flat">
              <a:noFill/>
              <a:prstDash val="solid"/>
              <a:miter/>
            </a:ln>
            <a:effectLst>
              <a:outerShdw blurRad="63500" dist="63500" dir="2400000" algn="tl" rotWithShape="0">
                <a:srgbClr val="000000">
                  <a:alpha val="50000"/>
                </a:srgb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defTabSz="685800">
                <a:defRPr/>
              </a:pPr>
              <a:endParaRPr lang="en-US" sz="450" dirty="0">
                <a:solidFill>
                  <a:srgbClr val="FFFFFF"/>
                </a:solidFill>
                <a:latin typeface="Segoe UI"/>
              </a:endParaRPr>
            </a:p>
          </p:txBody>
        </p:sp>
        <p:sp>
          <p:nvSpPr>
            <p:cNvPr id="45" name="TextBox 44">
              <a:extLst>
                <a:ext uri="{FF2B5EF4-FFF2-40B4-BE49-F238E27FC236}">
                  <a16:creationId xmlns:a16="http://schemas.microsoft.com/office/drawing/2014/main" id="{DF0AC789-D93B-AAF7-BE61-87A1A78F6D3C}"/>
                </a:ext>
                <a:ext uri="{C183D7F6-B498-43B3-948B-1728B52AA6E4}">
                  <adec:decorative xmlns:adec="http://schemas.microsoft.com/office/drawing/2017/decorative" val="0"/>
                </a:ext>
              </a:extLst>
            </p:cNvPr>
            <p:cNvSpPr txBox="1"/>
            <p:nvPr/>
          </p:nvSpPr>
          <p:spPr>
            <a:xfrm>
              <a:off x="8716159" y="2662263"/>
              <a:ext cx="236228" cy="430887"/>
            </a:xfrm>
            <a:prstGeom prst="rect">
              <a:avLst/>
            </a:prstGeom>
            <a:noFill/>
          </p:spPr>
          <p:txBody>
            <a:bodyPr wrap="square" lIns="0" tIns="0" rIns="0" bIns="0" rtlCol="0">
              <a:spAutoFit/>
            </a:bodyPr>
            <a:lstStyle/>
            <a:p>
              <a:pPr algn="ctr" defTabSz="685775">
                <a:defRPr/>
              </a:pPr>
              <a:r>
                <a:rPr lang="en-US" sz="2100" b="1" dirty="0">
                  <a:solidFill>
                    <a:srgbClr val="FFFFFF"/>
                  </a:solidFill>
                  <a:latin typeface="Segoe UI"/>
                </a:rPr>
                <a:t>+</a:t>
              </a:r>
            </a:p>
          </p:txBody>
        </p:sp>
      </p:grpSp>
      <p:grpSp>
        <p:nvGrpSpPr>
          <p:cNvPr id="16" name="Group 15">
            <a:extLst>
              <a:ext uri="{FF2B5EF4-FFF2-40B4-BE49-F238E27FC236}">
                <a16:creationId xmlns:a16="http://schemas.microsoft.com/office/drawing/2014/main" id="{DBF9F161-7F6D-81B8-2B3E-113C8AB474A6}"/>
              </a:ext>
              <a:ext uri="{C183D7F6-B498-43B3-948B-1728B52AA6E4}">
                <adec:decorative xmlns:adec="http://schemas.microsoft.com/office/drawing/2017/decorative" val="1"/>
              </a:ext>
            </a:extLst>
          </p:cNvPr>
          <p:cNvGrpSpPr/>
          <p:nvPr/>
        </p:nvGrpSpPr>
        <p:grpSpPr>
          <a:xfrm>
            <a:off x="4386557" y="2999033"/>
            <a:ext cx="322251" cy="337578"/>
            <a:chOff x="5848743" y="3998706"/>
            <a:chExt cx="429668" cy="450104"/>
          </a:xfrm>
        </p:grpSpPr>
        <p:sp>
          <p:nvSpPr>
            <p:cNvPr id="6" name="Oval 5">
              <a:extLst>
                <a:ext uri="{FF2B5EF4-FFF2-40B4-BE49-F238E27FC236}">
                  <a16:creationId xmlns:a16="http://schemas.microsoft.com/office/drawing/2014/main" id="{8A4B0F1E-1AD5-481A-4983-8934CD5C96EC}"/>
                </a:ext>
                <a:ext uri="{C183D7F6-B498-43B3-948B-1728B52AA6E4}">
                  <adec:decorative xmlns:adec="http://schemas.microsoft.com/office/drawing/2017/decorative" val="1"/>
                </a:ext>
              </a:extLst>
            </p:cNvPr>
            <p:cNvSpPr/>
            <p:nvPr/>
          </p:nvSpPr>
          <p:spPr bwMode="auto">
            <a:xfrm>
              <a:off x="5848743" y="3998706"/>
              <a:ext cx="429668" cy="450104"/>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102870" tIns="13716" rIns="102870" bIns="41148" numCol="1" spcCol="0" rtlCol="0" fromWordArt="0" anchor="ctr" anchorCtr="0" forceAA="0" compatLnSpc="1">
              <a:prstTxWarp prst="textNoShape">
                <a:avLst/>
              </a:prstTxWarp>
              <a:spAutoFit/>
            </a:bodyPr>
            <a:lstStyle/>
            <a:p>
              <a:pPr algn="ctr" defTabSz="685800" fontAlgn="base">
                <a:spcBef>
                  <a:spcPct val="0"/>
                </a:spcBef>
                <a:spcAft>
                  <a:spcPct val="0"/>
                </a:spcAft>
                <a:defRPr/>
              </a:pPr>
              <a:endParaRPr lang="en-US" sz="1200" b="1" dirty="0">
                <a:ln w="3175">
                  <a:noFill/>
                </a:ln>
                <a:gradFill>
                  <a:gsLst>
                    <a:gs pos="53147">
                      <a:srgbClr val="FFFFFF"/>
                    </a:gs>
                    <a:gs pos="28000">
                      <a:srgbClr val="FFFFFF"/>
                    </a:gs>
                  </a:gsLst>
                  <a:path path="circle">
                    <a:fillToRect l="100000" b="100000"/>
                  </a:path>
                </a:gradFill>
                <a:latin typeface="Segoe UI Variable Display Semib" pitchFamily="2" charset="0"/>
                <a:cs typeface="Segoe UI" pitchFamily="34" charset="0"/>
              </a:endParaRPr>
            </a:p>
          </p:txBody>
        </p:sp>
        <p:sp>
          <p:nvSpPr>
            <p:cNvPr id="22" name="TextBox 21">
              <a:extLst>
                <a:ext uri="{FF2B5EF4-FFF2-40B4-BE49-F238E27FC236}">
                  <a16:creationId xmlns:a16="http://schemas.microsoft.com/office/drawing/2014/main" id="{2B637971-E178-7B99-7ABF-E40EC77880FF}"/>
                </a:ext>
                <a:ext uri="{C183D7F6-B498-43B3-948B-1728B52AA6E4}">
                  <adec:decorative xmlns:adec="http://schemas.microsoft.com/office/drawing/2017/decorative" val="0"/>
                </a:ext>
              </a:extLst>
            </p:cNvPr>
            <p:cNvSpPr txBox="1"/>
            <p:nvPr/>
          </p:nvSpPr>
          <p:spPr>
            <a:xfrm>
              <a:off x="5973862" y="3999279"/>
              <a:ext cx="186921" cy="430887"/>
            </a:xfrm>
            <a:prstGeom prst="rect">
              <a:avLst/>
            </a:prstGeom>
            <a:noFill/>
          </p:spPr>
          <p:txBody>
            <a:bodyPr wrap="square" lIns="0" tIns="0" rIns="0" bIns="0" rtlCol="0">
              <a:spAutoFit/>
            </a:bodyPr>
            <a:lstStyle/>
            <a:p>
              <a:pPr algn="ctr" defTabSz="685775">
                <a:defRPr/>
              </a:pPr>
              <a:r>
                <a:rPr lang="en-US" sz="2100" b="1" dirty="0">
                  <a:solidFill>
                    <a:srgbClr val="FFFFFF"/>
                  </a:solidFill>
                  <a:latin typeface="Segoe UI"/>
                </a:rPr>
                <a:t>=</a:t>
              </a:r>
            </a:p>
          </p:txBody>
        </p:sp>
      </p:grpSp>
      <p:sp>
        <p:nvSpPr>
          <p:cNvPr id="34" name="Footer Placeholder 25">
            <a:extLst>
              <a:ext uri="{FF2B5EF4-FFF2-40B4-BE49-F238E27FC236}">
                <a16:creationId xmlns:a16="http://schemas.microsoft.com/office/drawing/2014/main" id="{97D71BB4-6276-111C-AECE-AD9C088466BA}"/>
              </a:ext>
            </a:extLst>
          </p:cNvPr>
          <p:cNvSpPr>
            <a:spLocks noGrp="1"/>
          </p:cNvSpPr>
          <p:nvPr>
            <p:ph type="ftr" sz="quarter" idx="4294967295"/>
          </p:nvPr>
        </p:nvSpPr>
        <p:spPr>
          <a:xfrm>
            <a:off x="438150" y="4816078"/>
            <a:ext cx="3113485" cy="147638"/>
          </a:xfrm>
          <a:prstGeom prst="rect">
            <a:avLst/>
          </a:prstGeom>
        </p:spPr>
        <p:txBody>
          <a:bodyPr lIns="0"/>
          <a:lstStyle/>
          <a:p>
            <a:pPr defTabSz="685800">
              <a:defRPr/>
            </a:pPr>
            <a:r>
              <a:rPr lang="en-US" sz="750" dirty="0">
                <a:solidFill>
                  <a:srgbClr val="000000"/>
                </a:solidFill>
                <a:latin typeface="Segoe UI"/>
              </a:rPr>
              <a:t>© Copyright Microsoft Corporation. All rights reserved.</a:t>
            </a:r>
          </a:p>
        </p:txBody>
      </p:sp>
    </p:spTree>
    <p:extLst>
      <p:ext uri="{BB962C8B-B14F-4D97-AF65-F5344CB8AC3E}">
        <p14:creationId xmlns:p14="http://schemas.microsoft.com/office/powerpoint/2010/main" val="30894433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42" presetClass="path" presetSubtype="0" decel="100000" fill="hold" grpId="1" nodeType="withEffect">
                                  <p:stCondLst>
                                    <p:cond delay="0"/>
                                  </p:stCondLst>
                                  <p:childTnLst>
                                    <p:animMotion origin="layout" path="M -3.125E-6 0 L -3.125E-6 0.03542 " pathEditMode="relative" rAng="0" ptsTypes="AA">
                                      <p:cBhvr>
                                        <p:cTn id="9" dur="700" spd="-100000" fill="hold"/>
                                        <p:tgtEl>
                                          <p:spTgt spid="7"/>
                                        </p:tgtEl>
                                        <p:attrNameLst>
                                          <p:attrName>ppt_x</p:attrName>
                                          <p:attrName>ppt_y</p:attrName>
                                        </p:attrNameLst>
                                      </p:cBhvr>
                                      <p:rCtr x="0" y="1759"/>
                                    </p:animMotion>
                                  </p:childTnLst>
                                </p:cTn>
                              </p:par>
                              <p:par>
                                <p:cTn id="10" presetID="10" presetClass="entr" presetSubtype="0" fill="hold" grpId="0" nodeType="withEffect">
                                  <p:stCondLst>
                                    <p:cond delay="30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42" presetClass="path" presetSubtype="0" decel="100000" fill="hold" grpId="1" nodeType="withEffect">
                                  <p:stCondLst>
                                    <p:cond delay="300"/>
                                  </p:stCondLst>
                                  <p:childTnLst>
                                    <p:animMotion origin="layout" path="M -3.125E-6 0 L -3.125E-6 0.03542 " pathEditMode="relative" rAng="0" ptsTypes="AA">
                                      <p:cBhvr>
                                        <p:cTn id="14" dur="700" spd="-100000" fill="hold"/>
                                        <p:tgtEl>
                                          <p:spTgt spid="2"/>
                                        </p:tgtEl>
                                        <p:attrNameLst>
                                          <p:attrName>ppt_x</p:attrName>
                                          <p:attrName>ppt_y</p:attrName>
                                        </p:attrNameLst>
                                      </p:cBhvr>
                                      <p:rCtr x="0" y="1759"/>
                                    </p:animMotion>
                                  </p:childTnLst>
                                </p:cTn>
                              </p:par>
                              <p:par>
                                <p:cTn id="15" presetID="10" presetClass="entr" presetSubtype="0" fill="hold" grpId="0" nodeType="withEffect">
                                  <p:stCondLst>
                                    <p:cond delay="30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42" presetClass="path" presetSubtype="0" decel="100000" fill="hold" grpId="1" nodeType="withEffect">
                                  <p:stCondLst>
                                    <p:cond delay="300"/>
                                  </p:stCondLst>
                                  <p:childTnLst>
                                    <p:animMotion origin="layout" path="M 5E-6 0 L 5E-6 0.03542 " pathEditMode="relative" rAng="0" ptsTypes="AA">
                                      <p:cBhvr>
                                        <p:cTn id="19" dur="700" spd="-100000" fill="hold"/>
                                        <p:tgtEl>
                                          <p:spTgt spid="8"/>
                                        </p:tgtEl>
                                        <p:attrNameLst>
                                          <p:attrName>ppt_x</p:attrName>
                                          <p:attrName>ppt_y</p:attrName>
                                        </p:attrNameLst>
                                      </p:cBhvr>
                                      <p:rCtr x="0" y="1759"/>
                                    </p:animMotion>
                                  </p:childTnLst>
                                </p:cTn>
                              </p:par>
                              <p:par>
                                <p:cTn id="20" presetID="10" presetClass="entr" presetSubtype="0" fill="hold" grpId="0" nodeType="withEffect">
                                  <p:stCondLst>
                                    <p:cond delay="30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42" presetClass="path" presetSubtype="0" decel="100000" fill="hold" grpId="1" nodeType="withEffect">
                                  <p:stCondLst>
                                    <p:cond delay="300"/>
                                  </p:stCondLst>
                                  <p:childTnLst>
                                    <p:animMotion origin="layout" path="M -1.66667E-6 0 L -1.66667E-6 0.03542 " pathEditMode="relative" rAng="0" ptsTypes="AA">
                                      <p:cBhvr>
                                        <p:cTn id="24" dur="700" spd="-100000" fill="hold"/>
                                        <p:tgtEl>
                                          <p:spTgt spid="20"/>
                                        </p:tgtEl>
                                        <p:attrNameLst>
                                          <p:attrName>ppt_x</p:attrName>
                                          <p:attrName>ppt_y</p:attrName>
                                        </p:attrNameLst>
                                      </p:cBhvr>
                                      <p:rCtr x="0" y="1759"/>
                                    </p:animMotion>
                                  </p:childTnLst>
                                </p:cTn>
                              </p:par>
                              <p:par>
                                <p:cTn id="25" presetID="10" presetClass="entr" presetSubtype="0" fill="hold" grpId="0" nodeType="withEffect">
                                  <p:stCondLst>
                                    <p:cond delay="30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500"/>
                                        <p:tgtEl>
                                          <p:spTgt spid="41"/>
                                        </p:tgtEl>
                                      </p:cBhvr>
                                    </p:animEffect>
                                  </p:childTnLst>
                                </p:cTn>
                              </p:par>
                              <p:par>
                                <p:cTn id="28" presetID="42" presetClass="path" presetSubtype="0" decel="100000" fill="hold" grpId="1" nodeType="withEffect">
                                  <p:stCondLst>
                                    <p:cond delay="300"/>
                                  </p:stCondLst>
                                  <p:childTnLst>
                                    <p:animMotion origin="layout" path="M 6.25E-7 0 L 6.25E-7 0.03542 " pathEditMode="relative" rAng="0" ptsTypes="AA">
                                      <p:cBhvr>
                                        <p:cTn id="29" dur="700" spd="-100000" fill="hold"/>
                                        <p:tgtEl>
                                          <p:spTgt spid="41"/>
                                        </p:tgtEl>
                                        <p:attrNameLst>
                                          <p:attrName>ppt_x</p:attrName>
                                          <p:attrName>ppt_y</p:attrName>
                                        </p:attrNameLst>
                                      </p:cBhvr>
                                      <p:rCtr x="0" y="1759"/>
                                    </p:animMotion>
                                  </p:childTnLst>
                                </p:cTn>
                              </p:par>
                              <p:par>
                                <p:cTn id="30" presetID="10" presetClass="entr" presetSubtype="0" fill="hold" grpId="0" nodeType="withEffect">
                                  <p:stCondLst>
                                    <p:cond delay="30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par>
                                <p:cTn id="33" presetID="42" presetClass="path" presetSubtype="0" decel="100000" fill="hold" grpId="1" nodeType="withEffect">
                                  <p:stCondLst>
                                    <p:cond delay="300"/>
                                  </p:stCondLst>
                                  <p:childTnLst>
                                    <p:animMotion origin="layout" path="M 5E-6 0 L 5E-6 0.03542 " pathEditMode="relative" rAng="0" ptsTypes="AA">
                                      <p:cBhvr>
                                        <p:cTn id="34" dur="700" spd="-100000" fill="hold"/>
                                        <p:tgtEl>
                                          <p:spTgt spid="28"/>
                                        </p:tgtEl>
                                        <p:attrNameLst>
                                          <p:attrName>ppt_x</p:attrName>
                                          <p:attrName>ppt_y</p:attrName>
                                        </p:attrNameLst>
                                      </p:cBhvr>
                                      <p:rCtr x="0" y="1759"/>
                                    </p:animMotion>
                                  </p:childTnLst>
                                </p:cTn>
                              </p:par>
                              <p:par>
                                <p:cTn id="35" presetID="10" presetClass="entr" presetSubtype="0" fill="hold" grpId="0" nodeType="withEffect">
                                  <p:stCondLst>
                                    <p:cond delay="30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500"/>
                                        <p:tgtEl>
                                          <p:spTgt spid="29"/>
                                        </p:tgtEl>
                                      </p:cBhvr>
                                    </p:animEffect>
                                  </p:childTnLst>
                                </p:cTn>
                              </p:par>
                              <p:par>
                                <p:cTn id="38" presetID="42" presetClass="path" presetSubtype="0" decel="100000" fill="hold" grpId="1" nodeType="withEffect">
                                  <p:stCondLst>
                                    <p:cond delay="300"/>
                                  </p:stCondLst>
                                  <p:childTnLst>
                                    <p:animMotion origin="layout" path="M 5E-6 0 L 5E-6 0.03542 " pathEditMode="relative" rAng="0" ptsTypes="AA">
                                      <p:cBhvr>
                                        <p:cTn id="39" dur="700" spd="-100000" fill="hold"/>
                                        <p:tgtEl>
                                          <p:spTgt spid="29"/>
                                        </p:tgtEl>
                                        <p:attrNameLst>
                                          <p:attrName>ppt_x</p:attrName>
                                          <p:attrName>ppt_y</p:attrName>
                                        </p:attrNameLst>
                                      </p:cBhvr>
                                      <p:rCtr x="0" y="1759"/>
                                    </p:animMotion>
                                  </p:childTnLst>
                                </p:cTn>
                              </p:par>
                              <p:par>
                                <p:cTn id="40" presetID="10" presetClass="entr" presetSubtype="0" fill="hold" grpId="0" nodeType="withEffect">
                                  <p:stCondLst>
                                    <p:cond delay="30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par>
                                <p:cTn id="43" presetID="42" presetClass="path" presetSubtype="0" decel="100000" fill="hold" grpId="1" nodeType="withEffect">
                                  <p:stCondLst>
                                    <p:cond delay="300"/>
                                  </p:stCondLst>
                                  <p:childTnLst>
                                    <p:animMotion origin="layout" path="M 5E-6 0 L 5E-6 0.03542 " pathEditMode="relative" rAng="0" ptsTypes="AA">
                                      <p:cBhvr>
                                        <p:cTn id="44" dur="700" spd="-100000" fill="hold"/>
                                        <p:tgtEl>
                                          <p:spTgt spid="30"/>
                                        </p:tgtEl>
                                        <p:attrNameLst>
                                          <p:attrName>ppt_x</p:attrName>
                                          <p:attrName>ppt_y</p:attrName>
                                        </p:attrNameLst>
                                      </p:cBhvr>
                                      <p:rCtr x="0" y="1759"/>
                                    </p:animMotion>
                                  </p:childTnLst>
                                </p:cTn>
                              </p:par>
                              <p:par>
                                <p:cTn id="45" presetID="10" presetClass="entr" presetSubtype="0" fill="hold" grpId="0" nodeType="withEffect">
                                  <p:stCondLst>
                                    <p:cond delay="30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par>
                                <p:cTn id="48" presetID="42" presetClass="path" presetSubtype="0" decel="100000" fill="hold" grpId="1" nodeType="withEffect">
                                  <p:stCondLst>
                                    <p:cond delay="300"/>
                                  </p:stCondLst>
                                  <p:childTnLst>
                                    <p:animMotion origin="layout" path="M 5E-6 0 L 5E-6 0.03542 " pathEditMode="relative" rAng="0" ptsTypes="AA">
                                      <p:cBhvr>
                                        <p:cTn id="49" dur="700" spd="-100000" fill="hold"/>
                                        <p:tgtEl>
                                          <p:spTgt spid="21"/>
                                        </p:tgtEl>
                                        <p:attrNameLst>
                                          <p:attrName>ppt_x</p:attrName>
                                          <p:attrName>ppt_y</p:attrName>
                                        </p:attrNameLst>
                                      </p:cBhvr>
                                      <p:rCtr x="0" y="1759"/>
                                    </p:animMotion>
                                  </p:childTnLst>
                                </p:cTn>
                              </p:par>
                              <p:par>
                                <p:cTn id="50" presetID="10" presetClass="entr" presetSubtype="0" fill="hold" nodeType="withEffect">
                                  <p:stCondLst>
                                    <p:cond delay="400"/>
                                  </p:stCondLst>
                                  <p:childTnLst>
                                    <p:set>
                                      <p:cBhvr>
                                        <p:cTn id="51" dur="1" fill="hold">
                                          <p:stCondLst>
                                            <p:cond delay="0"/>
                                          </p:stCondLst>
                                        </p:cTn>
                                        <p:tgtEl>
                                          <p:spTgt spid="5"/>
                                        </p:tgtEl>
                                        <p:attrNameLst>
                                          <p:attrName>style.visibility</p:attrName>
                                        </p:attrNameLst>
                                      </p:cBhvr>
                                      <p:to>
                                        <p:strVal val="visible"/>
                                      </p:to>
                                    </p:set>
                                    <p:animEffect transition="in" filter="fade">
                                      <p:cBhvr>
                                        <p:cTn id="52" dur="500"/>
                                        <p:tgtEl>
                                          <p:spTgt spid="5"/>
                                        </p:tgtEl>
                                      </p:cBhvr>
                                    </p:animEffect>
                                  </p:childTnLst>
                                </p:cTn>
                              </p:par>
                              <p:par>
                                <p:cTn id="53" presetID="42" presetClass="path" presetSubtype="0" decel="100000" fill="hold" nodeType="withEffect">
                                  <p:stCondLst>
                                    <p:cond delay="400"/>
                                  </p:stCondLst>
                                  <p:childTnLst>
                                    <p:animMotion origin="layout" path="M 5E-6 0 L 5E-6 0.03542 " pathEditMode="relative" rAng="0" ptsTypes="AA">
                                      <p:cBhvr>
                                        <p:cTn id="54" dur="700" spd="-100000" fill="hold"/>
                                        <p:tgtEl>
                                          <p:spTgt spid="5"/>
                                        </p:tgtEl>
                                        <p:attrNameLst>
                                          <p:attrName>ppt_x</p:attrName>
                                          <p:attrName>ppt_y</p:attrName>
                                        </p:attrNameLst>
                                      </p:cBhvr>
                                      <p:rCtr x="0" y="1759"/>
                                    </p:animMotion>
                                  </p:childTnLst>
                                </p:cTn>
                              </p:par>
                              <p:par>
                                <p:cTn id="55" presetID="10" presetClass="entr" presetSubtype="0" fill="hold" nodeType="withEffect">
                                  <p:stCondLst>
                                    <p:cond delay="50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500"/>
                                        <p:tgtEl>
                                          <p:spTgt spid="10"/>
                                        </p:tgtEl>
                                      </p:cBhvr>
                                    </p:animEffect>
                                  </p:childTnLst>
                                </p:cTn>
                              </p:par>
                              <p:par>
                                <p:cTn id="58" presetID="42" presetClass="path" presetSubtype="0" decel="100000" fill="hold" nodeType="withEffect">
                                  <p:stCondLst>
                                    <p:cond delay="500"/>
                                  </p:stCondLst>
                                  <p:childTnLst>
                                    <p:animMotion origin="layout" path="M 5E-6 0 L 5E-6 0.03542 " pathEditMode="relative" rAng="0" ptsTypes="AA">
                                      <p:cBhvr>
                                        <p:cTn id="59" dur="700" spd="-100000" fill="hold"/>
                                        <p:tgtEl>
                                          <p:spTgt spid="10"/>
                                        </p:tgtEl>
                                        <p:attrNameLst>
                                          <p:attrName>ppt_x</p:attrName>
                                          <p:attrName>ppt_y</p:attrName>
                                        </p:attrNameLst>
                                      </p:cBhvr>
                                      <p:rCtr x="0" y="1759"/>
                                    </p:animMotion>
                                  </p:childTnLst>
                                </p:cTn>
                              </p:par>
                              <p:par>
                                <p:cTn id="60" presetID="10" presetClass="entr" presetSubtype="0" fill="hold" nodeType="withEffect">
                                  <p:stCondLst>
                                    <p:cond delay="60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childTnLst>
                                </p:cTn>
                              </p:par>
                              <p:par>
                                <p:cTn id="63" presetID="42" presetClass="path" presetSubtype="0" decel="100000" fill="hold" nodeType="withEffect">
                                  <p:stCondLst>
                                    <p:cond delay="600"/>
                                  </p:stCondLst>
                                  <p:childTnLst>
                                    <p:animMotion origin="layout" path="M 5E-6 0 L 5E-6 0.03542 " pathEditMode="relative" rAng="0" ptsTypes="AA">
                                      <p:cBhvr>
                                        <p:cTn id="64" dur="700" spd="-100000" fill="hold"/>
                                        <p:tgtEl>
                                          <p:spTgt spid="15"/>
                                        </p:tgtEl>
                                        <p:attrNameLst>
                                          <p:attrName>ppt_x</p:attrName>
                                          <p:attrName>ppt_y</p:attrName>
                                        </p:attrNameLst>
                                      </p:cBhvr>
                                      <p:rCtr x="0" y="1759"/>
                                    </p:animMotion>
                                  </p:childTnLst>
                                </p:cTn>
                              </p:par>
                              <p:par>
                                <p:cTn id="65" presetID="10" presetClass="entr" presetSubtype="0" fill="hold" nodeType="withEffect">
                                  <p:stCondLst>
                                    <p:cond delay="70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childTnLst>
                                </p:cTn>
                              </p:par>
                              <p:par>
                                <p:cTn id="68" presetID="42" presetClass="path" presetSubtype="0" decel="100000" fill="hold" nodeType="withEffect">
                                  <p:stCondLst>
                                    <p:cond delay="700"/>
                                  </p:stCondLst>
                                  <p:childTnLst>
                                    <p:animMotion origin="layout" path="M 5E-6 0 L 5E-6 0.03542 " pathEditMode="relative" rAng="0" ptsTypes="AA">
                                      <p:cBhvr>
                                        <p:cTn id="69" dur="700" spd="-100000" fill="hold"/>
                                        <p:tgtEl>
                                          <p:spTgt spid="16"/>
                                        </p:tgtEl>
                                        <p:attrNameLst>
                                          <p:attrName>ppt_x</p:attrName>
                                          <p:attrName>ppt_y</p:attrName>
                                        </p:attrNameLst>
                                      </p:cBhvr>
                                      <p:rCtr x="0" y="1759"/>
                                    </p:animMotion>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35"/>
                                        </p:tgtEl>
                                        <p:attrNameLst>
                                          <p:attrName>style.visibility</p:attrName>
                                        </p:attrNameLst>
                                      </p:cBhvr>
                                      <p:to>
                                        <p:strVal val="visible"/>
                                      </p:to>
                                    </p:set>
                                    <p:animEffect transition="in" filter="fade">
                                      <p:cBhvr>
                                        <p:cTn id="74" dur="500"/>
                                        <p:tgtEl>
                                          <p:spTgt spid="35"/>
                                        </p:tgtEl>
                                      </p:cBhvr>
                                    </p:animEffect>
                                  </p:childTnLst>
                                </p:cTn>
                              </p:par>
                              <p:par>
                                <p:cTn id="75" presetID="42" presetClass="path" presetSubtype="0" decel="100000" fill="hold" grpId="1" nodeType="withEffect">
                                  <p:stCondLst>
                                    <p:cond delay="0"/>
                                  </p:stCondLst>
                                  <p:childTnLst>
                                    <p:animMotion origin="layout" path="M -3.125E-6 3.7037E-7 L -3.125E-6 0.03542 " pathEditMode="relative" rAng="0" ptsTypes="AA">
                                      <p:cBhvr>
                                        <p:cTn id="76" dur="700" spd="-100000" fill="hold"/>
                                        <p:tgtEl>
                                          <p:spTgt spid="35"/>
                                        </p:tgtEl>
                                        <p:attrNameLst>
                                          <p:attrName>ppt_x</p:attrName>
                                          <p:attrName>ppt_y</p:attrName>
                                        </p:attrNameLst>
                                      </p:cBhvr>
                                      <p:rCtr x="0" y="1759"/>
                                    </p:animMotion>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500"/>
                                        <p:tgtEl>
                                          <p:spTgt spid="36"/>
                                        </p:tgtEl>
                                      </p:cBhvr>
                                    </p:animEffect>
                                  </p:childTnLst>
                                </p:cTn>
                              </p:par>
                              <p:par>
                                <p:cTn id="82" presetID="42" presetClass="path" presetSubtype="0" decel="100000" fill="hold" grpId="1" nodeType="withEffect">
                                  <p:stCondLst>
                                    <p:cond delay="0"/>
                                  </p:stCondLst>
                                  <p:childTnLst>
                                    <p:animMotion origin="layout" path="M -3.125E-6 3.7037E-7 L -3.125E-6 0.03542 " pathEditMode="relative" rAng="0" ptsTypes="AA">
                                      <p:cBhvr>
                                        <p:cTn id="83" dur="700" spd="-100000" fill="hold"/>
                                        <p:tgtEl>
                                          <p:spTgt spid="36"/>
                                        </p:tgtEl>
                                        <p:attrNameLst>
                                          <p:attrName>ppt_x</p:attrName>
                                          <p:attrName>ppt_y</p:attrName>
                                        </p:attrNameLst>
                                      </p:cBhvr>
                                      <p:rCtr x="0" y="1759"/>
                                    </p:animMotion>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fade">
                                      <p:cBhvr>
                                        <p:cTn id="88" dur="500"/>
                                        <p:tgtEl>
                                          <p:spTgt spid="38"/>
                                        </p:tgtEl>
                                      </p:cBhvr>
                                    </p:animEffect>
                                  </p:childTnLst>
                                </p:cTn>
                              </p:par>
                              <p:par>
                                <p:cTn id="89" presetID="42" presetClass="path" presetSubtype="0" decel="100000" fill="hold" grpId="1" nodeType="withEffect">
                                  <p:stCondLst>
                                    <p:cond delay="0"/>
                                  </p:stCondLst>
                                  <p:childTnLst>
                                    <p:animMotion origin="layout" path="M -3.125E-6 3.7037E-7 L -3.125E-6 0.03542 " pathEditMode="relative" rAng="0" ptsTypes="AA">
                                      <p:cBhvr>
                                        <p:cTn id="90" dur="700" spd="-100000" fill="hold"/>
                                        <p:tgtEl>
                                          <p:spTgt spid="38"/>
                                        </p:tgtEl>
                                        <p:attrNameLst>
                                          <p:attrName>ppt_x</p:attrName>
                                          <p:attrName>ppt_y</p:attrName>
                                        </p:attrNameLst>
                                      </p:cBhvr>
                                      <p:rCtr x="0" y="1759"/>
                                    </p:animMotion>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39"/>
                                        </p:tgtEl>
                                        <p:attrNameLst>
                                          <p:attrName>style.visibility</p:attrName>
                                        </p:attrNameLst>
                                      </p:cBhvr>
                                      <p:to>
                                        <p:strVal val="visible"/>
                                      </p:to>
                                    </p:set>
                                    <p:animEffect transition="in" filter="fade">
                                      <p:cBhvr>
                                        <p:cTn id="95" dur="500"/>
                                        <p:tgtEl>
                                          <p:spTgt spid="39"/>
                                        </p:tgtEl>
                                      </p:cBhvr>
                                    </p:animEffect>
                                  </p:childTnLst>
                                </p:cTn>
                              </p:par>
                              <p:par>
                                <p:cTn id="96" presetID="42" presetClass="path" presetSubtype="0" decel="100000" fill="hold" grpId="1" nodeType="withEffect">
                                  <p:stCondLst>
                                    <p:cond delay="0"/>
                                  </p:stCondLst>
                                  <p:childTnLst>
                                    <p:animMotion origin="layout" path="M -3.125E-6 3.7037E-7 L -3.125E-6 0.03542 " pathEditMode="relative" rAng="0" ptsTypes="AA">
                                      <p:cBhvr>
                                        <p:cTn id="97" dur="700" spd="-100000" fill="hold"/>
                                        <p:tgtEl>
                                          <p:spTgt spid="39"/>
                                        </p:tgtEl>
                                        <p:attrNameLst>
                                          <p:attrName>ppt_x</p:attrName>
                                          <p:attrName>ppt_y</p:attrName>
                                        </p:attrNameLst>
                                      </p:cBhvr>
                                      <p:rCtr x="0" y="1759"/>
                                    </p:animMotion>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24"/>
                                        </p:tgtEl>
                                        <p:attrNameLst>
                                          <p:attrName>style.visibility</p:attrName>
                                        </p:attrNameLst>
                                      </p:cBhvr>
                                      <p:to>
                                        <p:strVal val="visible"/>
                                      </p:to>
                                    </p:set>
                                    <p:animEffect transition="in" filter="fade">
                                      <p:cBhvr>
                                        <p:cTn id="102" dur="500"/>
                                        <p:tgtEl>
                                          <p:spTgt spid="24"/>
                                        </p:tgtEl>
                                      </p:cBhvr>
                                    </p:animEffect>
                                  </p:childTnLst>
                                </p:cTn>
                              </p:par>
                              <p:par>
                                <p:cTn id="103" presetID="42" presetClass="path" presetSubtype="0" decel="100000" fill="hold" nodeType="withEffect">
                                  <p:stCondLst>
                                    <p:cond delay="0"/>
                                  </p:stCondLst>
                                  <p:childTnLst>
                                    <p:animMotion origin="layout" path="M -3.125E-6 3.7037E-7 L -3.125E-6 0.03542 " pathEditMode="relative" rAng="0" ptsTypes="AA">
                                      <p:cBhvr>
                                        <p:cTn id="104" dur="700" spd="-100000" fill="hold"/>
                                        <p:tgtEl>
                                          <p:spTgt spid="24"/>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2" grpId="0"/>
      <p:bldP spid="2" grpId="1"/>
      <p:bldP spid="28" grpId="0"/>
      <p:bldP spid="28" grpId="1"/>
      <p:bldP spid="35" grpId="0"/>
      <p:bldP spid="35" grpId="1"/>
      <p:bldP spid="8" grpId="0"/>
      <p:bldP spid="8" grpId="1"/>
      <p:bldP spid="29" grpId="0"/>
      <p:bldP spid="29" grpId="1"/>
      <p:bldP spid="36" grpId="0"/>
      <p:bldP spid="36" grpId="1"/>
      <p:bldP spid="41" grpId="0"/>
      <p:bldP spid="41" grpId="1"/>
      <p:bldP spid="30" grpId="0"/>
      <p:bldP spid="30" grpId="1"/>
      <p:bldP spid="38" grpId="0"/>
      <p:bldP spid="38" grpId="1"/>
      <p:bldP spid="20" grpId="0"/>
      <p:bldP spid="20" grpId="1"/>
      <p:bldP spid="21" grpId="0"/>
      <p:bldP spid="21" grpId="1"/>
      <p:bldP spid="39" grpId="0"/>
      <p:bldP spid="39"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CD8BE3F-AAB3-1C95-9805-20A57474681E}"/>
              </a:ext>
            </a:extLst>
          </p:cNvPr>
          <p:cNvSpPr>
            <a:spLocks noGrp="1"/>
          </p:cNvSpPr>
          <p:nvPr>
            <p:ph type="title"/>
          </p:nvPr>
        </p:nvSpPr>
        <p:spPr>
          <a:xfrm>
            <a:off x="957084" y="118028"/>
            <a:ext cx="7229819" cy="830997"/>
          </a:xfrm>
        </p:spPr>
        <p:txBody>
          <a:bodyPr/>
          <a:lstStyle/>
          <a:p>
            <a:pPr defTabSz="435118" fontAlgn="base">
              <a:spcAft>
                <a:spcPct val="0"/>
              </a:spcAft>
              <a:defRPr/>
            </a:pPr>
            <a:r>
              <a:rPr lang="en-US" dirty="0">
                <a:gradFill flip="none" rotWithShape="1">
                  <a:gsLst>
                    <a:gs pos="0">
                      <a:srgbClr val="FF5C39"/>
                    </a:gs>
                    <a:gs pos="32000">
                      <a:srgbClr val="C03BC4"/>
                    </a:gs>
                    <a:gs pos="68000">
                      <a:srgbClr val="0078D4"/>
                    </a:gs>
                    <a:gs pos="100000">
                      <a:srgbClr val="31837B"/>
                    </a:gs>
                  </a:gsLst>
                  <a:path path="circle">
                    <a:fillToRect l="100000" t="100000"/>
                  </a:path>
                  <a:tileRect r="-100000" b="-100000"/>
                </a:gradFill>
                <a:latin typeface="Segoe UI Semibold" panose="020B0702040204020203" pitchFamily="34" charset="0"/>
                <a:cs typeface="Segoe UI Semibold" panose="020B0702040204020203" pitchFamily="34" charset="0"/>
              </a:rPr>
              <a:t>Copilot Prompt Gallery</a:t>
            </a:r>
          </a:p>
        </p:txBody>
      </p:sp>
      <p:sp>
        <p:nvSpPr>
          <p:cNvPr id="24" name="Title 1">
            <a:extLst>
              <a:ext uri="{FF2B5EF4-FFF2-40B4-BE49-F238E27FC236}">
                <a16:creationId xmlns:a16="http://schemas.microsoft.com/office/drawing/2014/main" id="{CBE0C3B6-65D2-C8B5-3961-AE19D8A1AD18}"/>
              </a:ext>
            </a:extLst>
          </p:cNvPr>
          <p:cNvSpPr txBox="1">
            <a:spLocks/>
          </p:cNvSpPr>
          <p:nvPr/>
        </p:nvSpPr>
        <p:spPr>
          <a:xfrm>
            <a:off x="3313441" y="1001484"/>
            <a:ext cx="2517107" cy="230832"/>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200" b="0" kern="1200" cap="none" spc="-50" baseline="0" dirty="0">
                <a:ln w="3175">
                  <a:noFill/>
                </a:ln>
                <a:solidFill>
                  <a:schemeClr val="tx1"/>
                </a:solidFill>
                <a:effectLst/>
                <a:latin typeface="+mj-lt"/>
                <a:ea typeface="+mn-ea"/>
                <a:cs typeface="Segoe UI" pitchFamily="34" charset="0"/>
              </a:defRPr>
            </a:lvl1pPr>
          </a:lstStyle>
          <a:p>
            <a:pPr algn="ctr" defTabSz="699557">
              <a:defRPr/>
            </a:pPr>
            <a:r>
              <a:rPr lang="en-US" sz="1500" spc="0" dirty="0">
                <a:solidFill>
                  <a:srgbClr val="000000"/>
                </a:solidFill>
                <a:latin typeface="Segoe UI"/>
              </a:rPr>
              <a:t>Explore ready-to-use prompt</a:t>
            </a:r>
          </a:p>
        </p:txBody>
      </p:sp>
      <p:sp>
        <p:nvSpPr>
          <p:cNvPr id="6" name="Title 1">
            <a:extLst>
              <a:ext uri="{FF2B5EF4-FFF2-40B4-BE49-F238E27FC236}">
                <a16:creationId xmlns:a16="http://schemas.microsoft.com/office/drawing/2014/main" id="{6DE32BFE-D9AF-F5DD-28ED-4B8E593C2C2F}"/>
              </a:ext>
            </a:extLst>
          </p:cNvPr>
          <p:cNvSpPr txBox="1">
            <a:spLocks/>
          </p:cNvSpPr>
          <p:nvPr/>
        </p:nvSpPr>
        <p:spPr>
          <a:xfrm>
            <a:off x="3435285" y="4618856"/>
            <a:ext cx="2273429" cy="230832"/>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200" b="0" kern="1200" cap="none" spc="-50" baseline="0" dirty="0">
                <a:ln w="3175">
                  <a:noFill/>
                </a:ln>
                <a:solidFill>
                  <a:schemeClr val="tx1"/>
                </a:solidFill>
                <a:effectLst/>
                <a:latin typeface="+mj-lt"/>
                <a:ea typeface="+mn-ea"/>
                <a:cs typeface="Segoe UI" pitchFamily="34" charset="0"/>
              </a:defRPr>
            </a:lvl1pPr>
          </a:lstStyle>
          <a:p>
            <a:pPr lvl="0" algn="ctr">
              <a:defRPr/>
            </a:pPr>
            <a:r>
              <a:rPr lang="en-US" sz="1500" spc="0" dirty="0">
                <a:solidFill>
                  <a:srgbClr val="000000"/>
                </a:solidFill>
                <a:latin typeface="Segoe UI"/>
                <a:hlinkClick r:id="rId3"/>
              </a:rPr>
              <a:t>aka.ms/</a:t>
            </a:r>
            <a:r>
              <a:rPr lang="en-US" sz="1500" spc="0" dirty="0" err="1">
                <a:solidFill>
                  <a:srgbClr val="000000"/>
                </a:solidFill>
                <a:latin typeface="Segoe UI"/>
                <a:hlinkClick r:id="rId3"/>
              </a:rPr>
              <a:t>PromptGallery</a:t>
            </a:r>
            <a:endParaRPr lang="en-US" sz="1500" spc="0" dirty="0">
              <a:solidFill>
                <a:srgbClr val="000000"/>
              </a:solidFill>
              <a:latin typeface="Segoe UI"/>
            </a:endParaRPr>
          </a:p>
        </p:txBody>
      </p:sp>
      <p:pic>
        <p:nvPicPr>
          <p:cNvPr id="4" name="Picture 3" descr="M365 app icons">
            <a:extLst>
              <a:ext uri="{FF2B5EF4-FFF2-40B4-BE49-F238E27FC236}">
                <a16:creationId xmlns:a16="http://schemas.microsoft.com/office/drawing/2014/main" id="{D6A0541A-35A5-2E95-741A-FE02849CA5AE}"/>
              </a:ext>
            </a:extLst>
          </p:cNvPr>
          <p:cNvPicPr>
            <a:picLocks noChangeAspect="1"/>
          </p:cNvPicPr>
          <p:nvPr/>
        </p:nvPicPr>
        <p:blipFill>
          <a:blip r:embed="rId4"/>
          <a:stretch>
            <a:fillRect/>
          </a:stretch>
        </p:blipFill>
        <p:spPr>
          <a:xfrm>
            <a:off x="2411699" y="1337234"/>
            <a:ext cx="4320601" cy="468938"/>
          </a:xfrm>
          <a:prstGeom prst="rect">
            <a:avLst/>
          </a:prstGeom>
        </p:spPr>
      </p:pic>
      <p:sp>
        <p:nvSpPr>
          <p:cNvPr id="9" name="TextBox 8">
            <a:extLst>
              <a:ext uri="{FF2B5EF4-FFF2-40B4-BE49-F238E27FC236}">
                <a16:creationId xmlns:a16="http://schemas.microsoft.com/office/drawing/2014/main" id="{D0011622-C627-4D79-5728-350646F53550}"/>
              </a:ext>
            </a:extLst>
          </p:cNvPr>
          <p:cNvSpPr txBox="1"/>
          <p:nvPr/>
        </p:nvSpPr>
        <p:spPr>
          <a:xfrm>
            <a:off x="1235312" y="1911089"/>
            <a:ext cx="6673365" cy="276999"/>
          </a:xfrm>
          <a:prstGeom prst="rect">
            <a:avLst/>
          </a:prstGeom>
          <a:noFill/>
        </p:spPr>
        <p:txBody>
          <a:bodyPr wrap="square" lIns="0" tIns="0" rIns="0" bIns="0" rtlCol="0">
            <a:spAutoFit/>
          </a:bodyPr>
          <a:lstStyle/>
          <a:p>
            <a:r>
              <a:rPr lang="en-US" dirty="0"/>
              <a:t>Find and try prompts to see how you can apply to your own work</a:t>
            </a:r>
          </a:p>
        </p:txBody>
      </p:sp>
      <p:pic>
        <p:nvPicPr>
          <p:cNvPr id="10" name="Picture 9">
            <a:extLst>
              <a:ext uri="{FF2B5EF4-FFF2-40B4-BE49-F238E27FC236}">
                <a16:creationId xmlns:a16="http://schemas.microsoft.com/office/drawing/2014/main" id="{DEC6D87A-C2C6-F710-71AC-0D306447CEC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70977" y="2293005"/>
            <a:ext cx="6602038" cy="2168428"/>
          </a:xfrm>
          <a:prstGeom prst="rect">
            <a:avLst/>
          </a:prstGeom>
        </p:spPr>
      </p:pic>
    </p:spTree>
    <p:extLst>
      <p:ext uri="{BB962C8B-B14F-4D97-AF65-F5344CB8AC3E}">
        <p14:creationId xmlns:p14="http://schemas.microsoft.com/office/powerpoint/2010/main" val="6490614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42" presetClass="path" presetSubtype="0" decel="100000" fill="hold" grpId="1" nodeType="withEffect">
                                  <p:stCondLst>
                                    <p:cond delay="200"/>
                                  </p:stCondLst>
                                  <p:childTnLst>
                                    <p:animMotion origin="layout" path="M 0 -3.7037E-6 L 0 0.0355 " pathEditMode="relative" rAng="0" ptsTypes="AA">
                                      <p:cBhvr>
                                        <p:cTn id="9" dur="700" spd="-100000" fill="hold"/>
                                        <p:tgtEl>
                                          <p:spTgt spid="7"/>
                                        </p:tgtEl>
                                        <p:attrNameLst>
                                          <p:attrName>ppt_x</p:attrName>
                                          <p:attrName>ppt_y</p:attrName>
                                        </p:attrNameLst>
                                      </p:cBhvr>
                                      <p:rCtr x="0" y="1759"/>
                                    </p:animMotion>
                                  </p:childTnLst>
                                </p:cTn>
                              </p:par>
                              <p:par>
                                <p:cTn id="10" presetID="10" presetClass="entr" presetSubtype="0" fill="hold" grpId="0" nodeType="withEffect">
                                  <p:stCondLst>
                                    <p:cond delay="20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par>
                                <p:cTn id="13" presetID="42" presetClass="path" presetSubtype="0" decel="100000" fill="hold" grpId="1" nodeType="withEffect">
                                  <p:stCondLst>
                                    <p:cond delay="200"/>
                                  </p:stCondLst>
                                  <p:childTnLst>
                                    <p:animMotion origin="layout" path="M 0 3.7037E-7 L 0 0.03542 " pathEditMode="relative" rAng="0" ptsTypes="AA">
                                      <p:cBhvr>
                                        <p:cTn id="14" dur="700" spd="-100000" fill="hold"/>
                                        <p:tgtEl>
                                          <p:spTgt spid="24"/>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42" presetClass="path" presetSubtype="0" decel="100000" fill="hold" grpId="1" nodeType="withEffect">
                                  <p:stCondLst>
                                    <p:cond delay="0"/>
                                  </p:stCondLst>
                                  <p:childTnLst>
                                    <p:animMotion origin="layout" path="M 0 4.81481E-6 L 0 0.03541 " pathEditMode="relative" rAng="0" ptsTypes="AA">
                                      <p:cBhvr>
                                        <p:cTn id="19" dur="700" spd="-100000" fill="hold"/>
                                        <p:tgtEl>
                                          <p:spTgt spid="6"/>
                                        </p:tgtEl>
                                        <p:attrNameLst>
                                          <p:attrName>ppt_x</p:attrName>
                                          <p:attrName>ppt_y</p:attrName>
                                        </p:attrNameLst>
                                      </p:cBhvr>
                                      <p:rCtr x="0" y="1759"/>
                                    </p:animMotion>
                                  </p:childTnLst>
                                </p:cTn>
                              </p:par>
                            </p:childTnLst>
                          </p:cTn>
                        </p:par>
                        <p:par>
                          <p:cTn id="20" fill="hold">
                            <p:stCondLst>
                              <p:cond delay="900"/>
                            </p:stCondLst>
                            <p:childTnLst>
                              <p:par>
                                <p:cTn id="21" presetID="10" presetClass="entr" presetSubtype="0"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par>
                                <p:cTn id="24" presetID="42" presetClass="path" presetSubtype="0" decel="100000" fill="hold" nodeType="withEffect">
                                  <p:stCondLst>
                                    <p:cond delay="0"/>
                                  </p:stCondLst>
                                  <p:childTnLst>
                                    <p:animMotion origin="layout" path="M -3.95833E-6 2.96296E-6 L -3.95833E-6 0.03541 " pathEditMode="relative" rAng="0" ptsTypes="AA">
                                      <p:cBhvr>
                                        <p:cTn id="25" dur="700" spd="-100000" fill="hold"/>
                                        <p:tgtEl>
                                          <p:spTgt spid="4"/>
                                        </p:tgtEl>
                                        <p:attrNameLst>
                                          <p:attrName>ppt_x</p:attrName>
                                          <p:attrName>ppt_y</p:attrName>
                                        </p:attrNameLst>
                                      </p:cBhvr>
                                      <p:rCtr x="0" y="1759"/>
                                    </p:animMotion>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42" presetClass="path" presetSubtype="0" decel="100000" fill="hold" grpId="1" nodeType="withEffect">
                                  <p:stCondLst>
                                    <p:cond delay="0"/>
                                  </p:stCondLst>
                                  <p:childTnLst>
                                    <p:animMotion origin="layout" path="M 0 3.7037E-7 L 0 0.03542 " pathEditMode="relative" rAng="0" ptsTypes="AA">
                                      <p:cBhvr>
                                        <p:cTn id="30" dur="700" spd="-100000" fill="hold"/>
                                        <p:tgtEl>
                                          <p:spTgt spid="9"/>
                                        </p:tgtEl>
                                        <p:attrNameLst>
                                          <p:attrName>ppt_x</p:attrName>
                                          <p:attrName>ppt_y</p:attrName>
                                        </p:attrNameLst>
                                      </p:cBhvr>
                                      <p:rCtr x="0" y="1759"/>
                                    </p:animMotion>
                                  </p:childTnLst>
                                </p:cTn>
                              </p:par>
                            </p:childTnLst>
                          </p:cTn>
                        </p:par>
                        <p:par>
                          <p:cTn id="31" fill="hold">
                            <p:stCondLst>
                              <p:cond delay="1600"/>
                            </p:stCondLst>
                            <p:childTnLst>
                              <p:par>
                                <p:cTn id="32" presetID="10" presetClass="entr" presetSubtype="0"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42" presetClass="path" presetSubtype="0" decel="100000" fill="hold" nodeType="withEffect">
                                  <p:stCondLst>
                                    <p:cond delay="0"/>
                                  </p:stCondLst>
                                  <p:childTnLst>
                                    <p:animMotion origin="layout" path="M 0 -1.48148E-6 L 0 0.03542 " pathEditMode="relative" rAng="0" ptsTypes="AA">
                                      <p:cBhvr>
                                        <p:cTn id="36" dur="700" spd="-100000" fill="hold"/>
                                        <p:tgtEl>
                                          <p:spTgt spid="10"/>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24" grpId="0"/>
      <p:bldP spid="24" grpId="1"/>
      <p:bldP spid="6" grpId="0"/>
      <p:bldP spid="6" grpId="1"/>
      <p:bldP spid="9" grpId="0"/>
      <p:bldP spid="9" grpId="1"/>
    </p:bldLst>
  </p:timing>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47472"/>
            <a:ext cx="8046720" cy="640080"/>
          </a:xfrm>
          <a:prstGeom prst="rect">
            <a:avLst/>
          </a:prstGeom>
          <a:noFill/>
          <a:ln/>
        </p:spPr>
        <p:txBody>
          <a:bodyPr wrap="square" lIns="0" tIns="0" rIns="0" bIns="0" rtlCol="0" anchor="ctr"/>
          <a:lstStyle/>
          <a:p>
            <a:pPr marL="0" indent="0">
              <a:buNone/>
            </a:pPr>
            <a:r>
              <a:rPr lang="en-US" sz="2800" b="1" dirty="0">
                <a:solidFill>
                  <a:srgbClr val="0B2545"/>
                </a:solidFill>
                <a:latin typeface="Segoe UI" pitchFamily="34" charset="0"/>
                <a:ea typeface="Segoe UI" pitchFamily="34" charset="-122"/>
                <a:cs typeface="Segoe UI" pitchFamily="34" charset="-120"/>
              </a:rPr>
              <a:t>Module 3: Outlook + Teams</a:t>
            </a:r>
            <a:endParaRPr lang="en-US" sz="2800" dirty="0"/>
          </a:p>
        </p:txBody>
      </p:sp>
      <p:sp>
        <p:nvSpPr>
          <p:cNvPr id="3" name="rule">
            <a:extLst>
              <a:ext uri="{C183D7F6-B498-43B3-948B-1728B52AA6E4}">
                <adec:decorative xmlns:adec="http://schemas.microsoft.com/office/drawing/2017/decorative" val="1"/>
              </a:ext>
            </a:extLst>
          </p:cNvPr>
          <p:cNvSpPr/>
          <p:nvPr/>
        </p:nvSpPr>
        <p:spPr>
          <a:xfrm>
            <a:off x="548640" y="1024128"/>
            <a:ext cx="1005840" cy="41148"/>
          </a:xfrm>
          <a:prstGeom prst="rect">
            <a:avLst/>
          </a:prstGeom>
          <a:solidFill>
            <a:srgbClr val="00A3E0"/>
          </a:solidFill>
          <a:ln w="12700">
            <a:solidFill>
              <a:srgbClr val="00A3E0"/>
            </a:solidFill>
            <a:prstDash val="solid"/>
          </a:ln>
        </p:spPr>
        <p:txBody>
          <a:bodyPr/>
          <a:lstStyle/>
          <a:p>
            <a:endParaRPr lang="en-US"/>
          </a:p>
        </p:txBody>
      </p:sp>
      <p:sp>
        <p:nvSpPr>
          <p:cNvPr id="4" name="Text 2"/>
          <p:cNvSpPr/>
          <p:nvPr/>
        </p:nvSpPr>
        <p:spPr>
          <a:xfrm>
            <a:off x="548640" y="1097280"/>
            <a:ext cx="8046720" cy="320040"/>
          </a:xfrm>
          <a:prstGeom prst="rect">
            <a:avLst/>
          </a:prstGeom>
          <a:noFill/>
          <a:ln/>
        </p:spPr>
        <p:txBody>
          <a:bodyPr wrap="square" lIns="0" tIns="0" rIns="0" bIns="0" rtlCol="0" anchor="ctr"/>
          <a:lstStyle/>
          <a:p>
            <a:pPr marL="0" indent="0">
              <a:buNone/>
            </a:pPr>
            <a:r>
              <a:rPr lang="en-US" sz="1300" i="1" dirty="0">
                <a:solidFill>
                  <a:srgbClr val="5A6B7B"/>
                </a:solidFill>
                <a:latin typeface="Segoe UI" pitchFamily="34" charset="0"/>
                <a:ea typeface="Segoe UI" pitchFamily="34" charset="-122"/>
                <a:cs typeface="Segoe UI" pitchFamily="34" charset="-120"/>
              </a:rPr>
              <a:t>Communication &amp; collaboration</a:t>
            </a:r>
            <a:endParaRPr lang="en-US" sz="1300" dirty="0"/>
          </a:p>
        </p:txBody>
      </p:sp>
      <p:sp>
        <p:nvSpPr>
          <p:cNvPr id="5" name="Text 3"/>
          <p:cNvSpPr/>
          <p:nvPr/>
        </p:nvSpPr>
        <p:spPr>
          <a:xfrm>
            <a:off x="548640" y="1508760"/>
            <a:ext cx="3840480" cy="274320"/>
          </a:xfrm>
          <a:prstGeom prst="rect">
            <a:avLst/>
          </a:prstGeom>
          <a:noFill/>
          <a:ln/>
        </p:spPr>
        <p:txBody>
          <a:bodyPr wrap="square" lIns="0" tIns="0" rIns="0" bIns="0" rtlCol="0" anchor="ctr"/>
          <a:lstStyle/>
          <a:p>
            <a:pPr marL="0" indent="0">
              <a:buNone/>
            </a:pPr>
            <a:r>
              <a:rPr lang="en-US" sz="1400" b="1" dirty="0">
                <a:solidFill>
                  <a:srgbClr val="1B4F9C"/>
                </a:solidFill>
                <a:latin typeface="Segoe UI" pitchFamily="34" charset="0"/>
                <a:ea typeface="Segoe UI" pitchFamily="34" charset="-122"/>
                <a:cs typeface="Segoe UI" pitchFamily="34" charset="-120"/>
              </a:rPr>
              <a:t>Outlook</a:t>
            </a:r>
            <a:endParaRPr lang="en-US" sz="1400" dirty="0"/>
          </a:p>
        </p:txBody>
      </p:sp>
      <p:sp>
        <p:nvSpPr>
          <p:cNvPr id="6" name="Text 4"/>
          <p:cNvSpPr/>
          <p:nvPr/>
        </p:nvSpPr>
        <p:spPr>
          <a:xfrm>
            <a:off x="685800" y="1828800"/>
            <a:ext cx="3703320" cy="1280160"/>
          </a:xfrm>
          <a:prstGeom prst="rect">
            <a:avLst/>
          </a:prstGeom>
          <a:noFill/>
          <a:ln/>
        </p:spPr>
        <p:txBody>
          <a:bodyPr wrap="square" rtlCol="0" anchor="t"/>
          <a:lstStyle/>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Summarize email threads into decisions and next steps</a:t>
            </a:r>
            <a:endParaRPr lang="en-US" sz="1350" dirty="0"/>
          </a:p>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Draft professional responses</a:t>
            </a:r>
            <a:endParaRPr lang="en-US" sz="1350" dirty="0"/>
          </a:p>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Adjust tone: formal, concise, polite</a:t>
            </a:r>
            <a:endParaRPr lang="en-US" sz="1350" dirty="0"/>
          </a:p>
        </p:txBody>
      </p:sp>
      <p:sp>
        <p:nvSpPr>
          <p:cNvPr id="7" name="Text 5"/>
          <p:cNvSpPr/>
          <p:nvPr/>
        </p:nvSpPr>
        <p:spPr>
          <a:xfrm>
            <a:off x="4754880" y="1508760"/>
            <a:ext cx="3840480" cy="274320"/>
          </a:xfrm>
          <a:prstGeom prst="rect">
            <a:avLst/>
          </a:prstGeom>
          <a:noFill/>
          <a:ln/>
        </p:spPr>
        <p:txBody>
          <a:bodyPr wrap="square" lIns="0" tIns="0" rIns="0" bIns="0" rtlCol="0" anchor="ctr"/>
          <a:lstStyle/>
          <a:p>
            <a:pPr marL="0" indent="0">
              <a:buNone/>
            </a:pPr>
            <a:r>
              <a:rPr lang="en-US" sz="1400" b="1" dirty="0">
                <a:solidFill>
                  <a:srgbClr val="1B4F9C"/>
                </a:solidFill>
                <a:latin typeface="Segoe UI" pitchFamily="34" charset="0"/>
                <a:ea typeface="Segoe UI" pitchFamily="34" charset="-122"/>
                <a:cs typeface="Segoe UI" pitchFamily="34" charset="-120"/>
              </a:rPr>
              <a:t>Teams</a:t>
            </a:r>
            <a:endParaRPr lang="en-US" sz="1400" dirty="0"/>
          </a:p>
        </p:txBody>
      </p:sp>
      <p:sp>
        <p:nvSpPr>
          <p:cNvPr id="8" name="Text 6"/>
          <p:cNvSpPr/>
          <p:nvPr/>
        </p:nvSpPr>
        <p:spPr>
          <a:xfrm>
            <a:off x="4892040" y="1828800"/>
            <a:ext cx="3703320" cy="1280160"/>
          </a:xfrm>
          <a:prstGeom prst="rect">
            <a:avLst/>
          </a:prstGeom>
          <a:noFill/>
          <a:ln/>
        </p:spPr>
        <p:txBody>
          <a:bodyPr wrap="square" rtlCol="0" anchor="t"/>
          <a:lstStyle/>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Summarize chats and channel conversations</a:t>
            </a:r>
            <a:endParaRPr lang="en-US" sz="1350" dirty="0"/>
          </a:p>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Extract key updates from discussions</a:t>
            </a:r>
            <a:endParaRPr lang="en-US" sz="1350" dirty="0"/>
          </a:p>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Summarize documents in Teams Files</a:t>
            </a:r>
            <a:endParaRPr lang="en-US" sz="1350" dirty="0"/>
          </a:p>
        </p:txBody>
      </p:sp>
      <p:sp>
        <p:nvSpPr>
          <p:cNvPr id="9" name="prompt card">
            <a:extLst>
              <a:ext uri="{C183D7F6-B498-43B3-948B-1728B52AA6E4}">
                <adec:decorative xmlns:adec="http://schemas.microsoft.com/office/drawing/2017/decorative" val="1"/>
              </a:ext>
            </a:extLst>
          </p:cNvPr>
          <p:cNvSpPr/>
          <p:nvPr/>
        </p:nvSpPr>
        <p:spPr>
          <a:xfrm>
            <a:off x="548640" y="3337560"/>
            <a:ext cx="8046720" cy="1280160"/>
          </a:xfrm>
          <a:prstGeom prst="rect">
            <a:avLst/>
          </a:prstGeom>
          <a:solidFill>
            <a:srgbClr val="F2F6FA"/>
          </a:solidFill>
          <a:ln w="12700">
            <a:solidFill>
              <a:srgbClr val="D6E3EF"/>
            </a:solidFill>
            <a:prstDash val="solid"/>
          </a:ln>
        </p:spPr>
        <p:txBody>
          <a:bodyPr/>
          <a:lstStyle/>
          <a:p>
            <a:endParaRPr lang="en-US"/>
          </a:p>
        </p:txBody>
      </p:sp>
      <p:sp>
        <p:nvSpPr>
          <p:cNvPr id="10" name="accent bar">
            <a:extLst>
              <a:ext uri="{C183D7F6-B498-43B3-948B-1728B52AA6E4}">
                <adec:decorative xmlns:adec="http://schemas.microsoft.com/office/drawing/2017/decorative" val="1"/>
              </a:ext>
            </a:extLst>
          </p:cNvPr>
          <p:cNvSpPr/>
          <p:nvPr/>
        </p:nvSpPr>
        <p:spPr>
          <a:xfrm>
            <a:off x="548640" y="3337560"/>
            <a:ext cx="73152" cy="1280160"/>
          </a:xfrm>
          <a:prstGeom prst="rect">
            <a:avLst/>
          </a:prstGeom>
          <a:solidFill>
            <a:srgbClr val="00A3E0"/>
          </a:solidFill>
          <a:ln w="12700">
            <a:solidFill>
              <a:srgbClr val="00A3E0"/>
            </a:solidFill>
            <a:prstDash val="solid"/>
          </a:ln>
        </p:spPr>
        <p:txBody>
          <a:bodyPr/>
          <a:lstStyle/>
          <a:p>
            <a:endParaRPr lang="en-US"/>
          </a:p>
        </p:txBody>
      </p:sp>
      <p:sp>
        <p:nvSpPr>
          <p:cNvPr id="11" name="Text 9"/>
          <p:cNvSpPr/>
          <p:nvPr/>
        </p:nvSpPr>
        <p:spPr>
          <a:xfrm>
            <a:off x="777240" y="3429000"/>
            <a:ext cx="7680960" cy="256032"/>
          </a:xfrm>
          <a:prstGeom prst="rect">
            <a:avLst/>
          </a:prstGeom>
          <a:noFill/>
          <a:ln/>
        </p:spPr>
        <p:txBody>
          <a:bodyPr wrap="square" lIns="0" tIns="0" rIns="0" bIns="0" rtlCol="0" anchor="ctr"/>
          <a:lstStyle/>
          <a:p>
            <a:pPr marL="0" indent="0">
              <a:buNone/>
            </a:pPr>
            <a:r>
              <a:rPr lang="en-US" sz="1000" b="1" kern="0" spc="200" dirty="0">
                <a:solidFill>
                  <a:srgbClr val="1B4F9C"/>
                </a:solidFill>
                <a:latin typeface="Segoe UI" pitchFamily="34" charset="0"/>
                <a:ea typeface="Segoe UI" pitchFamily="34" charset="-122"/>
                <a:cs typeface="Segoe UI" pitchFamily="34" charset="-120"/>
              </a:rPr>
              <a:t>TRY THIS PROMPT</a:t>
            </a:r>
            <a:endParaRPr lang="en-US" sz="1000" dirty="0"/>
          </a:p>
        </p:txBody>
      </p:sp>
      <p:sp>
        <p:nvSpPr>
          <p:cNvPr id="12" name="Text 10"/>
          <p:cNvSpPr/>
          <p:nvPr/>
        </p:nvSpPr>
        <p:spPr>
          <a:xfrm>
            <a:off x="777240" y="3703320"/>
            <a:ext cx="7680960" cy="822960"/>
          </a:xfrm>
          <a:prstGeom prst="rect">
            <a:avLst/>
          </a:prstGeom>
          <a:noFill/>
          <a:ln/>
        </p:spPr>
        <p:txBody>
          <a:bodyPr wrap="square" lIns="0" tIns="0" rIns="0" bIns="0" rtlCol="0" anchor="t"/>
          <a:lstStyle/>
          <a:p>
            <a:pPr marL="0" indent="0">
              <a:buNone/>
            </a:pPr>
            <a:r>
              <a:rPr lang="en-US" sz="1350" i="1" dirty="0">
                <a:solidFill>
                  <a:srgbClr val="0B2545"/>
                </a:solidFill>
                <a:latin typeface="Segoe UI" pitchFamily="34" charset="0"/>
                <a:ea typeface="Segoe UI" pitchFamily="34" charset="-122"/>
                <a:cs typeface="Segoe UI" pitchFamily="34" charset="-120"/>
              </a:rPr>
              <a:t>“Summarize this email thread into the decisions made, open questions, and action items with owners. Then draft a polite reply confirming my two action items and asking for a due date.”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47472"/>
            <a:ext cx="8046720" cy="640080"/>
          </a:xfrm>
          <a:prstGeom prst="rect">
            <a:avLst/>
          </a:prstGeom>
          <a:noFill/>
          <a:ln/>
        </p:spPr>
        <p:txBody>
          <a:bodyPr wrap="square" lIns="0" tIns="0" rIns="0" bIns="0" rtlCol="0" anchor="ctr"/>
          <a:lstStyle/>
          <a:p>
            <a:pPr marL="0" indent="0">
              <a:buNone/>
            </a:pPr>
            <a:r>
              <a:rPr lang="en-US" sz="2800" b="1" dirty="0">
                <a:solidFill>
                  <a:srgbClr val="0B2545"/>
                </a:solidFill>
                <a:latin typeface="Segoe UI" pitchFamily="34" charset="0"/>
                <a:ea typeface="Segoe UI" pitchFamily="34" charset="-122"/>
                <a:cs typeface="Segoe UI" pitchFamily="34" charset="-120"/>
              </a:rPr>
              <a:t>Module 4: Word</a:t>
            </a:r>
            <a:endParaRPr lang="en-US" sz="2800" dirty="0"/>
          </a:p>
        </p:txBody>
      </p:sp>
      <p:sp>
        <p:nvSpPr>
          <p:cNvPr id="3" name="rule">
            <a:extLst>
              <a:ext uri="{C183D7F6-B498-43B3-948B-1728B52AA6E4}">
                <adec:decorative xmlns:adec="http://schemas.microsoft.com/office/drawing/2017/decorative" val="1"/>
              </a:ext>
            </a:extLst>
          </p:cNvPr>
          <p:cNvSpPr/>
          <p:nvPr/>
        </p:nvSpPr>
        <p:spPr>
          <a:xfrm>
            <a:off x="548640" y="1024128"/>
            <a:ext cx="1005840" cy="41148"/>
          </a:xfrm>
          <a:prstGeom prst="rect">
            <a:avLst/>
          </a:prstGeom>
          <a:solidFill>
            <a:srgbClr val="00A3E0"/>
          </a:solidFill>
          <a:ln w="12700">
            <a:solidFill>
              <a:srgbClr val="00A3E0"/>
            </a:solidFill>
            <a:prstDash val="solid"/>
          </a:ln>
        </p:spPr>
        <p:txBody>
          <a:bodyPr/>
          <a:lstStyle/>
          <a:p>
            <a:endParaRPr lang="en-US"/>
          </a:p>
        </p:txBody>
      </p:sp>
      <p:sp>
        <p:nvSpPr>
          <p:cNvPr id="4" name="Text 2"/>
          <p:cNvSpPr/>
          <p:nvPr/>
        </p:nvSpPr>
        <p:spPr>
          <a:xfrm>
            <a:off x="548640" y="1097280"/>
            <a:ext cx="8046720" cy="320040"/>
          </a:xfrm>
          <a:prstGeom prst="rect">
            <a:avLst/>
          </a:prstGeom>
          <a:noFill/>
          <a:ln/>
        </p:spPr>
        <p:txBody>
          <a:bodyPr wrap="square" lIns="0" tIns="0" rIns="0" bIns="0" rtlCol="0" anchor="ctr"/>
          <a:lstStyle/>
          <a:p>
            <a:pPr marL="0" indent="0">
              <a:buNone/>
            </a:pPr>
            <a:r>
              <a:rPr lang="en-US" sz="1300" i="1" dirty="0">
                <a:solidFill>
                  <a:srgbClr val="5A6B7B"/>
                </a:solidFill>
                <a:latin typeface="Segoe UI" pitchFamily="34" charset="0"/>
                <a:ea typeface="Segoe UI" pitchFamily="34" charset="-122"/>
                <a:cs typeface="Segoe UI" pitchFamily="34" charset="-120"/>
              </a:rPr>
              <a:t>Content creation &amp; refinement</a:t>
            </a:r>
            <a:endParaRPr lang="en-US" sz="1300" dirty="0"/>
          </a:p>
        </p:txBody>
      </p:sp>
      <p:sp>
        <p:nvSpPr>
          <p:cNvPr id="5" name="Text 3"/>
          <p:cNvSpPr/>
          <p:nvPr/>
        </p:nvSpPr>
        <p:spPr>
          <a:xfrm>
            <a:off x="685800" y="1554480"/>
            <a:ext cx="7863840" cy="1554480"/>
          </a:xfrm>
          <a:prstGeom prst="rect">
            <a:avLst/>
          </a:prstGeom>
          <a:noFill/>
          <a:ln/>
        </p:spPr>
        <p:txBody>
          <a:bodyPr wrap="square" rtlCol="0" anchor="t"/>
          <a:lstStyle/>
          <a:p>
            <a:pPr marL="342900" indent="-342900">
              <a:spcAft>
                <a:spcPts val="800"/>
              </a:spcAft>
              <a:buSzPct val="100000"/>
              <a:buChar char="•"/>
            </a:pPr>
            <a:r>
              <a:rPr lang="en-US" sz="1500" dirty="0">
                <a:solidFill>
                  <a:srgbClr val="26303B"/>
                </a:solidFill>
                <a:latin typeface="Segoe UI" pitchFamily="34" charset="0"/>
                <a:ea typeface="Segoe UI" pitchFamily="34" charset="-122"/>
                <a:cs typeface="Segoe UI" pitchFamily="34" charset="-120"/>
              </a:rPr>
              <a:t>Draft documents from prompts using goal-based writing</a:t>
            </a:r>
            <a:endParaRPr lang="en-US" sz="1500" dirty="0"/>
          </a:p>
          <a:p>
            <a:pPr marL="342900" indent="-342900">
              <a:spcAft>
                <a:spcPts val="800"/>
              </a:spcAft>
              <a:buSzPct val="100000"/>
              <a:buChar char="•"/>
            </a:pPr>
            <a:r>
              <a:rPr lang="en-US" sz="1500" dirty="0">
                <a:solidFill>
                  <a:srgbClr val="26303B"/>
                </a:solidFill>
                <a:latin typeface="Segoe UI" pitchFamily="34" charset="0"/>
                <a:ea typeface="Segoe UI" pitchFamily="34" charset="-122"/>
                <a:cs typeface="Segoe UI" pitchFamily="34" charset="-120"/>
              </a:rPr>
              <a:t>Summarize long documents into the essentials</a:t>
            </a:r>
            <a:endParaRPr lang="en-US" sz="1500" dirty="0"/>
          </a:p>
          <a:p>
            <a:pPr marL="342900" indent="-342900">
              <a:spcAft>
                <a:spcPts val="800"/>
              </a:spcAft>
              <a:buSzPct val="100000"/>
              <a:buChar char="•"/>
            </a:pPr>
            <a:r>
              <a:rPr lang="en-US" sz="1500" dirty="0">
                <a:solidFill>
                  <a:srgbClr val="26303B"/>
                </a:solidFill>
                <a:latin typeface="Segoe UI" pitchFamily="34" charset="0"/>
                <a:ea typeface="Segoe UI" pitchFamily="34" charset="-122"/>
                <a:cs typeface="Segoe UI" pitchFamily="34" charset="-120"/>
              </a:rPr>
              <a:t>Rewrite sections for clarity, tone, or a specific audience</a:t>
            </a:r>
            <a:endParaRPr lang="en-US" sz="1500" dirty="0"/>
          </a:p>
        </p:txBody>
      </p:sp>
      <p:sp>
        <p:nvSpPr>
          <p:cNvPr id="6" name="prompt card">
            <a:extLst>
              <a:ext uri="{C183D7F6-B498-43B3-948B-1728B52AA6E4}">
                <adec:decorative xmlns:adec="http://schemas.microsoft.com/office/drawing/2017/decorative" val="1"/>
              </a:ext>
            </a:extLst>
          </p:cNvPr>
          <p:cNvSpPr/>
          <p:nvPr/>
        </p:nvSpPr>
        <p:spPr>
          <a:xfrm>
            <a:off x="548640" y="3337560"/>
            <a:ext cx="8046720" cy="1280160"/>
          </a:xfrm>
          <a:prstGeom prst="rect">
            <a:avLst/>
          </a:prstGeom>
          <a:solidFill>
            <a:srgbClr val="F2F6FA"/>
          </a:solidFill>
          <a:ln w="12700">
            <a:solidFill>
              <a:srgbClr val="D6E3EF"/>
            </a:solidFill>
            <a:prstDash val="solid"/>
          </a:ln>
        </p:spPr>
        <p:txBody>
          <a:bodyPr/>
          <a:lstStyle/>
          <a:p>
            <a:endParaRPr lang="en-US"/>
          </a:p>
        </p:txBody>
      </p:sp>
      <p:sp>
        <p:nvSpPr>
          <p:cNvPr id="7" name="accent bar">
            <a:extLst>
              <a:ext uri="{C183D7F6-B498-43B3-948B-1728B52AA6E4}">
                <adec:decorative xmlns:adec="http://schemas.microsoft.com/office/drawing/2017/decorative" val="1"/>
              </a:ext>
            </a:extLst>
          </p:cNvPr>
          <p:cNvSpPr/>
          <p:nvPr/>
        </p:nvSpPr>
        <p:spPr>
          <a:xfrm>
            <a:off x="548640" y="3337560"/>
            <a:ext cx="73152" cy="1280160"/>
          </a:xfrm>
          <a:prstGeom prst="rect">
            <a:avLst/>
          </a:prstGeom>
          <a:solidFill>
            <a:srgbClr val="00A3E0"/>
          </a:solidFill>
          <a:ln w="12700">
            <a:solidFill>
              <a:srgbClr val="00A3E0"/>
            </a:solidFill>
            <a:prstDash val="solid"/>
          </a:ln>
        </p:spPr>
        <p:txBody>
          <a:bodyPr/>
          <a:lstStyle/>
          <a:p>
            <a:endParaRPr lang="en-US"/>
          </a:p>
        </p:txBody>
      </p:sp>
      <p:sp>
        <p:nvSpPr>
          <p:cNvPr id="8" name="Text 6"/>
          <p:cNvSpPr/>
          <p:nvPr/>
        </p:nvSpPr>
        <p:spPr>
          <a:xfrm>
            <a:off x="777240" y="3429000"/>
            <a:ext cx="7680960" cy="256032"/>
          </a:xfrm>
          <a:prstGeom prst="rect">
            <a:avLst/>
          </a:prstGeom>
          <a:noFill/>
          <a:ln/>
        </p:spPr>
        <p:txBody>
          <a:bodyPr wrap="square" lIns="0" tIns="0" rIns="0" bIns="0" rtlCol="0" anchor="ctr"/>
          <a:lstStyle/>
          <a:p>
            <a:pPr marL="0" indent="0">
              <a:buNone/>
            </a:pPr>
            <a:r>
              <a:rPr lang="en-US" sz="1000" b="1" kern="0" spc="200" dirty="0">
                <a:solidFill>
                  <a:srgbClr val="1B4F9C"/>
                </a:solidFill>
                <a:latin typeface="Segoe UI" pitchFamily="34" charset="0"/>
                <a:ea typeface="Segoe UI" pitchFamily="34" charset="-122"/>
                <a:cs typeface="Segoe UI" pitchFamily="34" charset="-120"/>
              </a:rPr>
              <a:t>TRY THIS PROMPT</a:t>
            </a:r>
            <a:endParaRPr lang="en-US" sz="1000" dirty="0"/>
          </a:p>
        </p:txBody>
      </p:sp>
      <p:sp>
        <p:nvSpPr>
          <p:cNvPr id="9" name="Text 7"/>
          <p:cNvSpPr/>
          <p:nvPr/>
        </p:nvSpPr>
        <p:spPr>
          <a:xfrm>
            <a:off x="777240" y="3703320"/>
            <a:ext cx="7680960" cy="822960"/>
          </a:xfrm>
          <a:prstGeom prst="rect">
            <a:avLst/>
          </a:prstGeom>
          <a:noFill/>
          <a:ln/>
        </p:spPr>
        <p:txBody>
          <a:bodyPr wrap="square" lIns="0" tIns="0" rIns="0" bIns="0" rtlCol="0" anchor="t"/>
          <a:lstStyle/>
          <a:p>
            <a:pPr marL="0" indent="0">
              <a:buNone/>
            </a:pPr>
            <a:r>
              <a:rPr lang="en-US" sz="1350" i="1" dirty="0">
                <a:solidFill>
                  <a:srgbClr val="0B2545"/>
                </a:solidFill>
                <a:latin typeface="Segoe UI" pitchFamily="34" charset="0"/>
                <a:ea typeface="Segoe UI" pitchFamily="34" charset="-122"/>
                <a:cs typeface="Segoe UI" pitchFamily="34" charset="-120"/>
              </a:rPr>
              <a:t>“Draft a one-page onboarding guide for new team members covering our tools, meeting rhythms, and where to find documents. Use a friendly tone, short sections with headings, and a checklist for week one.”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47472"/>
            <a:ext cx="8046720" cy="640080"/>
          </a:xfrm>
          <a:prstGeom prst="rect">
            <a:avLst/>
          </a:prstGeom>
          <a:noFill/>
          <a:ln/>
        </p:spPr>
        <p:txBody>
          <a:bodyPr wrap="square" lIns="0" tIns="0" rIns="0" bIns="0" rtlCol="0" anchor="ctr"/>
          <a:lstStyle/>
          <a:p>
            <a:pPr marL="0" indent="0">
              <a:buNone/>
            </a:pPr>
            <a:r>
              <a:rPr lang="en-US" sz="2800" b="1" dirty="0">
                <a:solidFill>
                  <a:srgbClr val="0B2545"/>
                </a:solidFill>
                <a:latin typeface="Segoe UI" pitchFamily="34" charset="0"/>
                <a:ea typeface="Segoe UI" pitchFamily="34" charset="-122"/>
                <a:cs typeface="Segoe UI" pitchFamily="34" charset="-120"/>
              </a:rPr>
              <a:t>Module 5: PowerPoint</a:t>
            </a:r>
            <a:endParaRPr lang="en-US" sz="2800" dirty="0"/>
          </a:p>
        </p:txBody>
      </p:sp>
      <p:sp>
        <p:nvSpPr>
          <p:cNvPr id="3" name="rule">
            <a:extLst>
              <a:ext uri="{C183D7F6-B498-43B3-948B-1728B52AA6E4}">
                <adec:decorative xmlns:adec="http://schemas.microsoft.com/office/drawing/2017/decorative" val="1"/>
              </a:ext>
            </a:extLst>
          </p:cNvPr>
          <p:cNvSpPr/>
          <p:nvPr/>
        </p:nvSpPr>
        <p:spPr>
          <a:xfrm>
            <a:off x="548640" y="1024128"/>
            <a:ext cx="1005840" cy="41148"/>
          </a:xfrm>
          <a:prstGeom prst="rect">
            <a:avLst/>
          </a:prstGeom>
          <a:solidFill>
            <a:srgbClr val="00A3E0"/>
          </a:solidFill>
          <a:ln w="12700">
            <a:solidFill>
              <a:srgbClr val="00A3E0"/>
            </a:solidFill>
            <a:prstDash val="solid"/>
          </a:ln>
        </p:spPr>
        <p:txBody>
          <a:bodyPr/>
          <a:lstStyle/>
          <a:p>
            <a:endParaRPr lang="en-US"/>
          </a:p>
        </p:txBody>
      </p:sp>
      <p:sp>
        <p:nvSpPr>
          <p:cNvPr id="4" name="Text 2"/>
          <p:cNvSpPr/>
          <p:nvPr/>
        </p:nvSpPr>
        <p:spPr>
          <a:xfrm>
            <a:off x="548640" y="1097280"/>
            <a:ext cx="8046720" cy="320040"/>
          </a:xfrm>
          <a:prstGeom prst="rect">
            <a:avLst/>
          </a:prstGeom>
          <a:noFill/>
          <a:ln/>
        </p:spPr>
        <p:txBody>
          <a:bodyPr wrap="square" lIns="0" tIns="0" rIns="0" bIns="0" rtlCol="0" anchor="ctr"/>
          <a:lstStyle/>
          <a:p>
            <a:pPr marL="0" indent="0">
              <a:buNone/>
            </a:pPr>
            <a:r>
              <a:rPr lang="en-US" sz="1300" i="1" dirty="0">
                <a:solidFill>
                  <a:srgbClr val="5A6B7B"/>
                </a:solidFill>
                <a:latin typeface="Segoe UI" pitchFamily="34" charset="0"/>
                <a:ea typeface="Segoe UI" pitchFamily="34" charset="-122"/>
                <a:cs typeface="Segoe UI" pitchFamily="34" charset="-120"/>
              </a:rPr>
              <a:t>Storytelling &amp; presentation</a:t>
            </a:r>
            <a:endParaRPr lang="en-US" sz="1300" dirty="0"/>
          </a:p>
        </p:txBody>
      </p:sp>
      <p:sp>
        <p:nvSpPr>
          <p:cNvPr id="5" name="Text 3"/>
          <p:cNvSpPr/>
          <p:nvPr/>
        </p:nvSpPr>
        <p:spPr>
          <a:xfrm>
            <a:off x="685800" y="1554480"/>
            <a:ext cx="7863840" cy="1554480"/>
          </a:xfrm>
          <a:prstGeom prst="rect">
            <a:avLst/>
          </a:prstGeom>
          <a:noFill/>
          <a:ln/>
        </p:spPr>
        <p:txBody>
          <a:bodyPr wrap="square" rtlCol="0" anchor="t"/>
          <a:lstStyle/>
          <a:p>
            <a:pPr marL="342900" indent="-342900">
              <a:spcAft>
                <a:spcPts val="800"/>
              </a:spcAft>
              <a:buSzPct val="100000"/>
              <a:buChar char="•"/>
            </a:pPr>
            <a:r>
              <a:rPr lang="en-US" sz="1500" dirty="0">
                <a:solidFill>
                  <a:srgbClr val="26303B"/>
                </a:solidFill>
                <a:latin typeface="Segoe UI" pitchFamily="34" charset="0"/>
                <a:ea typeface="Segoe UI" pitchFamily="34" charset="-122"/>
                <a:cs typeface="Segoe UI" pitchFamily="34" charset="-120"/>
              </a:rPr>
              <a:t>Generate presentations from a topic plus a goal</a:t>
            </a:r>
            <a:endParaRPr lang="en-US" sz="1500" dirty="0"/>
          </a:p>
          <a:p>
            <a:pPr marL="342900" indent="-342900">
              <a:spcAft>
                <a:spcPts val="800"/>
              </a:spcAft>
              <a:buSzPct val="100000"/>
              <a:buChar char="•"/>
            </a:pPr>
            <a:r>
              <a:rPr lang="en-US" sz="1500" dirty="0">
                <a:solidFill>
                  <a:srgbClr val="26303B"/>
                </a:solidFill>
                <a:latin typeface="Segoe UI" pitchFamily="34" charset="0"/>
                <a:ea typeface="Segoe UI" pitchFamily="34" charset="-122"/>
                <a:cs typeface="Segoe UI" pitchFamily="34" charset="-120"/>
              </a:rPr>
              <a:t>Add slides to existing decks</a:t>
            </a:r>
            <a:endParaRPr lang="en-US" sz="1500" dirty="0"/>
          </a:p>
          <a:p>
            <a:pPr marL="342900" indent="-342900">
              <a:spcAft>
                <a:spcPts val="800"/>
              </a:spcAft>
              <a:buSzPct val="100000"/>
              <a:buChar char="•"/>
            </a:pPr>
            <a:r>
              <a:rPr lang="en-US" sz="1500" dirty="0">
                <a:solidFill>
                  <a:srgbClr val="26303B"/>
                </a:solidFill>
                <a:latin typeface="Segoe UI" pitchFamily="34" charset="0"/>
                <a:ea typeface="Segoe UI" pitchFamily="34" charset="-122"/>
                <a:cs typeface="Segoe UI" pitchFamily="34" charset="-120"/>
              </a:rPr>
              <a:t>Create speaker notes automatically</a:t>
            </a:r>
            <a:endParaRPr lang="en-US" sz="1500" dirty="0"/>
          </a:p>
        </p:txBody>
      </p:sp>
      <p:sp>
        <p:nvSpPr>
          <p:cNvPr id="6" name="prompt card">
            <a:extLst>
              <a:ext uri="{C183D7F6-B498-43B3-948B-1728B52AA6E4}">
                <adec:decorative xmlns:adec="http://schemas.microsoft.com/office/drawing/2017/decorative" val="1"/>
              </a:ext>
            </a:extLst>
          </p:cNvPr>
          <p:cNvSpPr/>
          <p:nvPr/>
        </p:nvSpPr>
        <p:spPr>
          <a:xfrm>
            <a:off x="548640" y="3337560"/>
            <a:ext cx="8046720" cy="1280160"/>
          </a:xfrm>
          <a:prstGeom prst="rect">
            <a:avLst/>
          </a:prstGeom>
          <a:solidFill>
            <a:srgbClr val="F2F6FA"/>
          </a:solidFill>
          <a:ln w="12700">
            <a:solidFill>
              <a:srgbClr val="D6E3EF"/>
            </a:solidFill>
            <a:prstDash val="solid"/>
          </a:ln>
        </p:spPr>
        <p:txBody>
          <a:bodyPr/>
          <a:lstStyle/>
          <a:p>
            <a:endParaRPr lang="en-US"/>
          </a:p>
        </p:txBody>
      </p:sp>
      <p:sp>
        <p:nvSpPr>
          <p:cNvPr id="7" name="accent bar">
            <a:extLst>
              <a:ext uri="{C183D7F6-B498-43B3-948B-1728B52AA6E4}">
                <adec:decorative xmlns:adec="http://schemas.microsoft.com/office/drawing/2017/decorative" val="1"/>
              </a:ext>
            </a:extLst>
          </p:cNvPr>
          <p:cNvSpPr/>
          <p:nvPr/>
        </p:nvSpPr>
        <p:spPr>
          <a:xfrm>
            <a:off x="548640" y="3337560"/>
            <a:ext cx="73152" cy="1280160"/>
          </a:xfrm>
          <a:prstGeom prst="rect">
            <a:avLst/>
          </a:prstGeom>
          <a:solidFill>
            <a:srgbClr val="00A3E0"/>
          </a:solidFill>
          <a:ln w="12700">
            <a:solidFill>
              <a:srgbClr val="00A3E0"/>
            </a:solidFill>
            <a:prstDash val="solid"/>
          </a:ln>
        </p:spPr>
        <p:txBody>
          <a:bodyPr/>
          <a:lstStyle/>
          <a:p>
            <a:endParaRPr lang="en-US"/>
          </a:p>
        </p:txBody>
      </p:sp>
      <p:sp>
        <p:nvSpPr>
          <p:cNvPr id="8" name="Text 6"/>
          <p:cNvSpPr/>
          <p:nvPr/>
        </p:nvSpPr>
        <p:spPr>
          <a:xfrm>
            <a:off x="777240" y="3429000"/>
            <a:ext cx="7680960" cy="256032"/>
          </a:xfrm>
          <a:prstGeom prst="rect">
            <a:avLst/>
          </a:prstGeom>
          <a:noFill/>
          <a:ln/>
        </p:spPr>
        <p:txBody>
          <a:bodyPr wrap="square" lIns="0" tIns="0" rIns="0" bIns="0" rtlCol="0" anchor="ctr"/>
          <a:lstStyle/>
          <a:p>
            <a:pPr marL="0" indent="0">
              <a:buNone/>
            </a:pPr>
            <a:r>
              <a:rPr lang="en-US" sz="1000" b="1" kern="0" spc="200" dirty="0">
                <a:solidFill>
                  <a:srgbClr val="1B4F9C"/>
                </a:solidFill>
                <a:latin typeface="Segoe UI" pitchFamily="34" charset="0"/>
                <a:ea typeface="Segoe UI" pitchFamily="34" charset="-122"/>
                <a:cs typeface="Segoe UI" pitchFamily="34" charset="-120"/>
              </a:rPr>
              <a:t>TRY THIS PROMPT</a:t>
            </a:r>
            <a:endParaRPr lang="en-US" sz="1000" dirty="0"/>
          </a:p>
        </p:txBody>
      </p:sp>
      <p:sp>
        <p:nvSpPr>
          <p:cNvPr id="9" name="Text 7"/>
          <p:cNvSpPr/>
          <p:nvPr/>
        </p:nvSpPr>
        <p:spPr>
          <a:xfrm>
            <a:off x="777240" y="3703320"/>
            <a:ext cx="7680960" cy="822960"/>
          </a:xfrm>
          <a:prstGeom prst="rect">
            <a:avLst/>
          </a:prstGeom>
          <a:noFill/>
          <a:ln/>
        </p:spPr>
        <p:txBody>
          <a:bodyPr wrap="square" lIns="0" tIns="0" rIns="0" bIns="0" rtlCol="0" anchor="t"/>
          <a:lstStyle/>
          <a:p>
            <a:pPr marL="0" indent="0">
              <a:buNone/>
            </a:pPr>
            <a:r>
              <a:rPr lang="en-US" sz="1350" i="1" dirty="0">
                <a:solidFill>
                  <a:srgbClr val="0B2545"/>
                </a:solidFill>
                <a:latin typeface="Segoe UI" pitchFamily="34" charset="0"/>
                <a:ea typeface="Segoe UI" pitchFamily="34" charset="-122"/>
                <a:cs typeface="Segoe UI" pitchFamily="34" charset="-120"/>
              </a:rPr>
              <a:t>“Create a 6-slide presentation from this Word document for a 15-minute leadership update. Lead with the recommendation, keep 3 bullets per slide, and add speaker notes I can read aloud.”</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47472"/>
            <a:ext cx="8046720" cy="640080"/>
          </a:xfrm>
          <a:prstGeom prst="rect">
            <a:avLst/>
          </a:prstGeom>
          <a:noFill/>
          <a:ln/>
        </p:spPr>
        <p:txBody>
          <a:bodyPr wrap="square" lIns="0" tIns="0" rIns="0" bIns="0" rtlCol="0" anchor="ctr"/>
          <a:lstStyle/>
          <a:p>
            <a:pPr marL="0" indent="0">
              <a:buNone/>
            </a:pPr>
            <a:r>
              <a:rPr lang="en-US" sz="2800" b="1" dirty="0">
                <a:solidFill>
                  <a:srgbClr val="0B2545"/>
                </a:solidFill>
                <a:latin typeface="Segoe UI" pitchFamily="34" charset="0"/>
                <a:ea typeface="Segoe UI" pitchFamily="34" charset="-122"/>
                <a:cs typeface="Segoe UI" pitchFamily="34" charset="-120"/>
              </a:rPr>
              <a:t>Module 6: Excel</a:t>
            </a:r>
            <a:endParaRPr lang="en-US" sz="2800" dirty="0"/>
          </a:p>
        </p:txBody>
      </p:sp>
      <p:sp>
        <p:nvSpPr>
          <p:cNvPr id="3" name="rule">
            <a:extLst>
              <a:ext uri="{C183D7F6-B498-43B3-948B-1728B52AA6E4}">
                <adec:decorative xmlns:adec="http://schemas.microsoft.com/office/drawing/2017/decorative" val="1"/>
              </a:ext>
            </a:extLst>
          </p:cNvPr>
          <p:cNvSpPr/>
          <p:nvPr/>
        </p:nvSpPr>
        <p:spPr>
          <a:xfrm>
            <a:off x="548640" y="1024128"/>
            <a:ext cx="1005840" cy="41148"/>
          </a:xfrm>
          <a:prstGeom prst="rect">
            <a:avLst/>
          </a:prstGeom>
          <a:solidFill>
            <a:srgbClr val="00A3E0"/>
          </a:solidFill>
          <a:ln w="12700">
            <a:solidFill>
              <a:srgbClr val="00A3E0"/>
            </a:solidFill>
            <a:prstDash val="solid"/>
          </a:ln>
        </p:spPr>
        <p:txBody>
          <a:bodyPr/>
          <a:lstStyle/>
          <a:p>
            <a:endParaRPr lang="en-US"/>
          </a:p>
        </p:txBody>
      </p:sp>
      <p:sp>
        <p:nvSpPr>
          <p:cNvPr id="4" name="Text 2"/>
          <p:cNvSpPr/>
          <p:nvPr/>
        </p:nvSpPr>
        <p:spPr>
          <a:xfrm>
            <a:off x="548640" y="1097280"/>
            <a:ext cx="8046720" cy="320040"/>
          </a:xfrm>
          <a:prstGeom prst="rect">
            <a:avLst/>
          </a:prstGeom>
          <a:noFill/>
          <a:ln/>
        </p:spPr>
        <p:txBody>
          <a:bodyPr wrap="square" lIns="0" tIns="0" rIns="0" bIns="0" rtlCol="0" anchor="ctr"/>
          <a:lstStyle/>
          <a:p>
            <a:pPr marL="0" indent="0">
              <a:buNone/>
            </a:pPr>
            <a:r>
              <a:rPr lang="en-US" sz="1300" i="1" dirty="0">
                <a:solidFill>
                  <a:srgbClr val="5A6B7B"/>
                </a:solidFill>
                <a:latin typeface="Segoe UI" pitchFamily="34" charset="0"/>
                <a:ea typeface="Segoe UI" pitchFamily="34" charset="-122"/>
                <a:cs typeface="Segoe UI" pitchFamily="34" charset="-120"/>
              </a:rPr>
              <a:t>Data analysis &amp; insights</a:t>
            </a:r>
            <a:endParaRPr lang="en-US" sz="1300" dirty="0"/>
          </a:p>
        </p:txBody>
      </p:sp>
      <p:sp>
        <p:nvSpPr>
          <p:cNvPr id="5" name="Text 3"/>
          <p:cNvSpPr/>
          <p:nvPr/>
        </p:nvSpPr>
        <p:spPr>
          <a:xfrm>
            <a:off x="685800" y="1554480"/>
            <a:ext cx="7863840" cy="1554480"/>
          </a:xfrm>
          <a:prstGeom prst="rect">
            <a:avLst/>
          </a:prstGeom>
          <a:noFill/>
          <a:ln/>
        </p:spPr>
        <p:txBody>
          <a:bodyPr wrap="square" rtlCol="0" anchor="t"/>
          <a:lstStyle/>
          <a:p>
            <a:pPr marL="342900" indent="-342900">
              <a:spcAft>
                <a:spcPts val="800"/>
              </a:spcAft>
              <a:buSzPct val="100000"/>
              <a:buChar char="•"/>
            </a:pPr>
            <a:r>
              <a:rPr lang="en-US" sz="1500" dirty="0">
                <a:solidFill>
                  <a:srgbClr val="26303B"/>
                </a:solidFill>
                <a:latin typeface="Segoe UI" pitchFamily="34" charset="0"/>
                <a:ea typeface="Segoe UI" pitchFamily="34" charset="-122"/>
                <a:cs typeface="Segoe UI" pitchFamily="34" charset="-120"/>
              </a:rPr>
              <a:t>Analyze datasets for actionable insights</a:t>
            </a:r>
            <a:endParaRPr lang="en-US" sz="1500" dirty="0"/>
          </a:p>
          <a:p>
            <a:pPr marL="342900" indent="-342900">
              <a:spcAft>
                <a:spcPts val="800"/>
              </a:spcAft>
              <a:buSzPct val="100000"/>
              <a:buChar char="•"/>
            </a:pPr>
            <a:r>
              <a:rPr lang="en-US" sz="1500" dirty="0">
                <a:solidFill>
                  <a:srgbClr val="26303B"/>
                </a:solidFill>
                <a:latin typeface="Segoe UI" pitchFamily="34" charset="0"/>
                <a:ea typeface="Segoe UI" pitchFamily="34" charset="-122"/>
                <a:cs typeface="Segoe UI" pitchFamily="34" charset="-120"/>
              </a:rPr>
              <a:t>Generate charts to visualize results</a:t>
            </a:r>
            <a:endParaRPr lang="en-US" sz="1500" dirty="0"/>
          </a:p>
          <a:p>
            <a:pPr marL="342900" indent="-342900">
              <a:spcAft>
                <a:spcPts val="800"/>
              </a:spcAft>
              <a:buSzPct val="100000"/>
              <a:buChar char="•"/>
            </a:pPr>
            <a:r>
              <a:rPr lang="en-US" sz="1500" dirty="0">
                <a:solidFill>
                  <a:srgbClr val="26303B"/>
                </a:solidFill>
                <a:latin typeface="Segoe UI" pitchFamily="34" charset="0"/>
                <a:ea typeface="Segoe UI" pitchFamily="34" charset="-122"/>
                <a:cs typeface="Segoe UI" pitchFamily="34" charset="-120"/>
              </a:rPr>
              <a:t>Get help building and explaining formulas</a:t>
            </a:r>
            <a:endParaRPr lang="en-US" sz="1500" dirty="0"/>
          </a:p>
        </p:txBody>
      </p:sp>
      <p:sp>
        <p:nvSpPr>
          <p:cNvPr id="6" name="prompt card">
            <a:extLst>
              <a:ext uri="{C183D7F6-B498-43B3-948B-1728B52AA6E4}">
                <adec:decorative xmlns:adec="http://schemas.microsoft.com/office/drawing/2017/decorative" val="1"/>
              </a:ext>
            </a:extLst>
          </p:cNvPr>
          <p:cNvSpPr/>
          <p:nvPr/>
        </p:nvSpPr>
        <p:spPr>
          <a:xfrm>
            <a:off x="548640" y="3337560"/>
            <a:ext cx="8046720" cy="1280160"/>
          </a:xfrm>
          <a:prstGeom prst="rect">
            <a:avLst/>
          </a:prstGeom>
          <a:solidFill>
            <a:srgbClr val="F2F6FA"/>
          </a:solidFill>
          <a:ln w="12700">
            <a:solidFill>
              <a:srgbClr val="D6E3EF"/>
            </a:solidFill>
            <a:prstDash val="solid"/>
          </a:ln>
        </p:spPr>
        <p:txBody>
          <a:bodyPr/>
          <a:lstStyle/>
          <a:p>
            <a:endParaRPr lang="en-US"/>
          </a:p>
        </p:txBody>
      </p:sp>
      <p:sp>
        <p:nvSpPr>
          <p:cNvPr id="7" name="accent bar">
            <a:extLst>
              <a:ext uri="{C183D7F6-B498-43B3-948B-1728B52AA6E4}">
                <adec:decorative xmlns:adec="http://schemas.microsoft.com/office/drawing/2017/decorative" val="1"/>
              </a:ext>
            </a:extLst>
          </p:cNvPr>
          <p:cNvSpPr/>
          <p:nvPr/>
        </p:nvSpPr>
        <p:spPr>
          <a:xfrm>
            <a:off x="548640" y="3337560"/>
            <a:ext cx="73152" cy="1280160"/>
          </a:xfrm>
          <a:prstGeom prst="rect">
            <a:avLst/>
          </a:prstGeom>
          <a:solidFill>
            <a:srgbClr val="00A3E0"/>
          </a:solidFill>
          <a:ln w="12700">
            <a:solidFill>
              <a:srgbClr val="00A3E0"/>
            </a:solidFill>
            <a:prstDash val="solid"/>
          </a:ln>
        </p:spPr>
        <p:txBody>
          <a:bodyPr/>
          <a:lstStyle/>
          <a:p>
            <a:endParaRPr lang="en-US"/>
          </a:p>
        </p:txBody>
      </p:sp>
      <p:sp>
        <p:nvSpPr>
          <p:cNvPr id="8" name="Text 6"/>
          <p:cNvSpPr/>
          <p:nvPr/>
        </p:nvSpPr>
        <p:spPr>
          <a:xfrm>
            <a:off x="777240" y="3429000"/>
            <a:ext cx="7680960" cy="256032"/>
          </a:xfrm>
          <a:prstGeom prst="rect">
            <a:avLst/>
          </a:prstGeom>
          <a:noFill/>
          <a:ln/>
        </p:spPr>
        <p:txBody>
          <a:bodyPr wrap="square" lIns="0" tIns="0" rIns="0" bIns="0" rtlCol="0" anchor="ctr"/>
          <a:lstStyle/>
          <a:p>
            <a:pPr marL="0" indent="0">
              <a:buNone/>
            </a:pPr>
            <a:r>
              <a:rPr lang="en-US" sz="1000" b="1" kern="0" spc="200" dirty="0">
                <a:solidFill>
                  <a:srgbClr val="1B4F9C"/>
                </a:solidFill>
                <a:latin typeface="Segoe UI" pitchFamily="34" charset="0"/>
                <a:ea typeface="Segoe UI" pitchFamily="34" charset="-122"/>
                <a:cs typeface="Segoe UI" pitchFamily="34" charset="-120"/>
              </a:rPr>
              <a:t>TRY THIS PROMPT</a:t>
            </a:r>
            <a:endParaRPr lang="en-US" sz="1000" dirty="0"/>
          </a:p>
        </p:txBody>
      </p:sp>
      <p:sp>
        <p:nvSpPr>
          <p:cNvPr id="9" name="Text 7"/>
          <p:cNvSpPr/>
          <p:nvPr/>
        </p:nvSpPr>
        <p:spPr>
          <a:xfrm>
            <a:off x="777240" y="3703320"/>
            <a:ext cx="7680960" cy="822960"/>
          </a:xfrm>
          <a:prstGeom prst="rect">
            <a:avLst/>
          </a:prstGeom>
          <a:noFill/>
          <a:ln/>
        </p:spPr>
        <p:txBody>
          <a:bodyPr wrap="square" lIns="0" tIns="0" rIns="0" bIns="0" rtlCol="0" anchor="t"/>
          <a:lstStyle/>
          <a:p>
            <a:pPr marL="0" indent="0">
              <a:buNone/>
            </a:pPr>
            <a:r>
              <a:rPr lang="en-US" sz="1350" i="1" dirty="0">
                <a:solidFill>
                  <a:srgbClr val="0B2545"/>
                </a:solidFill>
                <a:latin typeface="Segoe UI" pitchFamily="34" charset="0"/>
                <a:ea typeface="Segoe UI" pitchFamily="34" charset="-122"/>
                <a:cs typeface="Segoe UI" pitchFamily="34" charset="-120"/>
              </a:rPr>
              <a:t>“Analyze this sales table and highlight the top three trends by region and quarter. Add a column chart of quarterly totals, and explain the formula you would use to flag any month that dropped more than 10%.”</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47472"/>
            <a:ext cx="8046720" cy="640080"/>
          </a:xfrm>
          <a:prstGeom prst="rect">
            <a:avLst/>
          </a:prstGeom>
          <a:noFill/>
          <a:ln/>
        </p:spPr>
        <p:txBody>
          <a:bodyPr wrap="square" lIns="0" tIns="0" rIns="0" bIns="0" rtlCol="0" anchor="ctr"/>
          <a:lstStyle/>
          <a:p>
            <a:pPr marL="0" indent="0">
              <a:buNone/>
            </a:pPr>
            <a:r>
              <a:rPr lang="en-US" sz="2800" b="1" dirty="0">
                <a:solidFill>
                  <a:srgbClr val="0B2545"/>
                </a:solidFill>
                <a:latin typeface="Segoe UI" pitchFamily="34" charset="0"/>
                <a:ea typeface="Segoe UI" pitchFamily="34" charset="-122"/>
                <a:cs typeface="Segoe UI" pitchFamily="34" charset="-120"/>
              </a:rPr>
              <a:t>Module 7: OneDrive &amp; SharePoint</a:t>
            </a:r>
            <a:endParaRPr lang="en-US" sz="2800" dirty="0"/>
          </a:p>
        </p:txBody>
      </p:sp>
      <p:sp>
        <p:nvSpPr>
          <p:cNvPr id="3" name="rule">
            <a:extLst>
              <a:ext uri="{C183D7F6-B498-43B3-948B-1728B52AA6E4}">
                <adec:decorative xmlns:adec="http://schemas.microsoft.com/office/drawing/2017/decorative" val="1"/>
              </a:ext>
            </a:extLst>
          </p:cNvPr>
          <p:cNvSpPr/>
          <p:nvPr/>
        </p:nvSpPr>
        <p:spPr>
          <a:xfrm>
            <a:off x="548640" y="1024128"/>
            <a:ext cx="1005840" cy="41148"/>
          </a:xfrm>
          <a:prstGeom prst="rect">
            <a:avLst/>
          </a:prstGeom>
          <a:solidFill>
            <a:srgbClr val="00A3E0"/>
          </a:solidFill>
          <a:ln w="12700">
            <a:solidFill>
              <a:srgbClr val="00A3E0"/>
            </a:solidFill>
            <a:prstDash val="solid"/>
          </a:ln>
        </p:spPr>
        <p:txBody>
          <a:bodyPr/>
          <a:lstStyle/>
          <a:p>
            <a:endParaRPr lang="en-US"/>
          </a:p>
        </p:txBody>
      </p:sp>
      <p:sp>
        <p:nvSpPr>
          <p:cNvPr id="4" name="Text 2"/>
          <p:cNvSpPr/>
          <p:nvPr/>
        </p:nvSpPr>
        <p:spPr>
          <a:xfrm>
            <a:off x="548640" y="1097280"/>
            <a:ext cx="8046720" cy="320040"/>
          </a:xfrm>
          <a:prstGeom prst="rect">
            <a:avLst/>
          </a:prstGeom>
          <a:noFill/>
          <a:ln/>
        </p:spPr>
        <p:txBody>
          <a:bodyPr wrap="square" lIns="0" tIns="0" rIns="0" bIns="0" rtlCol="0" anchor="ctr"/>
          <a:lstStyle/>
          <a:p>
            <a:pPr marL="0" indent="0">
              <a:buNone/>
            </a:pPr>
            <a:r>
              <a:rPr lang="en-US" sz="1300" i="1" dirty="0">
                <a:solidFill>
                  <a:srgbClr val="5A6B7B"/>
                </a:solidFill>
                <a:latin typeface="Segoe UI" pitchFamily="34" charset="0"/>
                <a:ea typeface="Segoe UI" pitchFamily="34" charset="-122"/>
                <a:cs typeface="Segoe UI" pitchFamily="34" charset="-120"/>
              </a:rPr>
              <a:t>Knowledge management</a:t>
            </a:r>
            <a:endParaRPr lang="en-US" sz="1300" dirty="0"/>
          </a:p>
        </p:txBody>
      </p:sp>
      <p:sp>
        <p:nvSpPr>
          <p:cNvPr id="5" name="Text 3"/>
          <p:cNvSpPr/>
          <p:nvPr/>
        </p:nvSpPr>
        <p:spPr>
          <a:xfrm>
            <a:off x="548640" y="1508760"/>
            <a:ext cx="3840480" cy="274320"/>
          </a:xfrm>
          <a:prstGeom prst="rect">
            <a:avLst/>
          </a:prstGeom>
          <a:noFill/>
          <a:ln/>
        </p:spPr>
        <p:txBody>
          <a:bodyPr wrap="square" lIns="0" tIns="0" rIns="0" bIns="0" rtlCol="0" anchor="ctr"/>
          <a:lstStyle/>
          <a:p>
            <a:pPr marL="0" indent="0">
              <a:buNone/>
            </a:pPr>
            <a:r>
              <a:rPr lang="en-US" sz="1400" b="1" dirty="0">
                <a:solidFill>
                  <a:srgbClr val="1B4F9C"/>
                </a:solidFill>
                <a:latin typeface="Segoe UI" pitchFamily="34" charset="0"/>
                <a:ea typeface="Segoe UI" pitchFamily="34" charset="-122"/>
                <a:cs typeface="Segoe UI" pitchFamily="34" charset="-120"/>
              </a:rPr>
              <a:t>OneDrive</a:t>
            </a:r>
            <a:endParaRPr lang="en-US" sz="1400" dirty="0"/>
          </a:p>
        </p:txBody>
      </p:sp>
      <p:sp>
        <p:nvSpPr>
          <p:cNvPr id="6" name="Text 4"/>
          <p:cNvSpPr/>
          <p:nvPr/>
        </p:nvSpPr>
        <p:spPr>
          <a:xfrm>
            <a:off x="685800" y="1828800"/>
            <a:ext cx="3703320" cy="1280160"/>
          </a:xfrm>
          <a:prstGeom prst="rect">
            <a:avLst/>
          </a:prstGeom>
          <a:noFill/>
          <a:ln/>
        </p:spPr>
        <p:txBody>
          <a:bodyPr wrap="square" rtlCol="0" anchor="t"/>
          <a:lstStyle/>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Understand its role in personal file access</a:t>
            </a:r>
            <a:endParaRPr lang="en-US" sz="1350" dirty="0"/>
          </a:p>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Retrieve and summarize your files</a:t>
            </a:r>
            <a:endParaRPr lang="en-US" sz="1350" dirty="0"/>
          </a:p>
        </p:txBody>
      </p:sp>
      <p:sp>
        <p:nvSpPr>
          <p:cNvPr id="7" name="Text 5"/>
          <p:cNvSpPr/>
          <p:nvPr/>
        </p:nvSpPr>
        <p:spPr>
          <a:xfrm>
            <a:off x="4754880" y="1508760"/>
            <a:ext cx="3840480" cy="274320"/>
          </a:xfrm>
          <a:prstGeom prst="rect">
            <a:avLst/>
          </a:prstGeom>
          <a:noFill/>
          <a:ln/>
        </p:spPr>
        <p:txBody>
          <a:bodyPr wrap="square" lIns="0" tIns="0" rIns="0" bIns="0" rtlCol="0" anchor="ctr"/>
          <a:lstStyle/>
          <a:p>
            <a:pPr marL="0" indent="0">
              <a:buNone/>
            </a:pPr>
            <a:r>
              <a:rPr lang="en-US" sz="1400" b="1" dirty="0">
                <a:solidFill>
                  <a:srgbClr val="1B4F9C"/>
                </a:solidFill>
                <a:latin typeface="Segoe UI" pitchFamily="34" charset="0"/>
                <a:ea typeface="Segoe UI" pitchFamily="34" charset="-122"/>
                <a:cs typeface="Segoe UI" pitchFamily="34" charset="-120"/>
              </a:rPr>
              <a:t>SharePoint</a:t>
            </a:r>
            <a:endParaRPr lang="en-US" sz="1400" dirty="0"/>
          </a:p>
        </p:txBody>
      </p:sp>
      <p:sp>
        <p:nvSpPr>
          <p:cNvPr id="8" name="Text 6"/>
          <p:cNvSpPr/>
          <p:nvPr/>
        </p:nvSpPr>
        <p:spPr>
          <a:xfrm>
            <a:off x="4892040" y="1828800"/>
            <a:ext cx="3703320" cy="1280160"/>
          </a:xfrm>
          <a:prstGeom prst="rect">
            <a:avLst/>
          </a:prstGeom>
          <a:noFill/>
          <a:ln/>
        </p:spPr>
        <p:txBody>
          <a:bodyPr wrap="square" rtlCol="0" anchor="t"/>
          <a:lstStyle/>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Locate documents using natural language</a:t>
            </a:r>
            <a:endParaRPr lang="en-US" sz="1350" dirty="0"/>
          </a:p>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Summarize document libraries</a:t>
            </a:r>
            <a:endParaRPr lang="en-US" sz="1350" dirty="0"/>
          </a:p>
          <a:p>
            <a:pPr marL="342900" indent="-342900">
              <a:spcAft>
                <a:spcPts val="800"/>
              </a:spcAft>
              <a:buSzPct val="100000"/>
              <a:buChar char="•"/>
            </a:pPr>
            <a:r>
              <a:rPr lang="en-US" sz="1350" dirty="0">
                <a:solidFill>
                  <a:srgbClr val="26303B"/>
                </a:solidFill>
                <a:latin typeface="Segoe UI" pitchFamily="34" charset="0"/>
                <a:ea typeface="Segoe UI" pitchFamily="34" charset="-122"/>
                <a:cs typeface="Segoe UI" pitchFamily="34" charset="-120"/>
              </a:rPr>
              <a:t>Analyze SharePoint lists</a:t>
            </a:r>
            <a:endParaRPr lang="en-US" sz="1350" dirty="0"/>
          </a:p>
        </p:txBody>
      </p:sp>
      <p:sp>
        <p:nvSpPr>
          <p:cNvPr id="9" name="prompt card">
            <a:extLst>
              <a:ext uri="{C183D7F6-B498-43B3-948B-1728B52AA6E4}">
                <adec:decorative xmlns:adec="http://schemas.microsoft.com/office/drawing/2017/decorative" val="1"/>
              </a:ext>
            </a:extLst>
          </p:cNvPr>
          <p:cNvSpPr/>
          <p:nvPr/>
        </p:nvSpPr>
        <p:spPr>
          <a:xfrm>
            <a:off x="548640" y="3575304"/>
            <a:ext cx="8046720" cy="1042416"/>
          </a:xfrm>
          <a:prstGeom prst="rect">
            <a:avLst/>
          </a:prstGeom>
          <a:solidFill>
            <a:srgbClr val="F2F6FA"/>
          </a:solidFill>
          <a:ln w="12700">
            <a:solidFill>
              <a:srgbClr val="D6E3EF"/>
            </a:solidFill>
            <a:prstDash val="solid"/>
          </a:ln>
        </p:spPr>
        <p:txBody>
          <a:bodyPr/>
          <a:lstStyle/>
          <a:p>
            <a:endParaRPr lang="en-US"/>
          </a:p>
        </p:txBody>
      </p:sp>
      <p:sp>
        <p:nvSpPr>
          <p:cNvPr id="10" name="accent bar">
            <a:extLst>
              <a:ext uri="{C183D7F6-B498-43B3-948B-1728B52AA6E4}">
                <adec:decorative xmlns:adec="http://schemas.microsoft.com/office/drawing/2017/decorative" val="1"/>
              </a:ext>
            </a:extLst>
          </p:cNvPr>
          <p:cNvSpPr/>
          <p:nvPr/>
        </p:nvSpPr>
        <p:spPr>
          <a:xfrm>
            <a:off x="548640" y="3575304"/>
            <a:ext cx="73152" cy="1042416"/>
          </a:xfrm>
          <a:prstGeom prst="rect">
            <a:avLst/>
          </a:prstGeom>
          <a:solidFill>
            <a:srgbClr val="00A3E0"/>
          </a:solidFill>
          <a:ln w="12700">
            <a:solidFill>
              <a:srgbClr val="00A3E0"/>
            </a:solidFill>
            <a:prstDash val="solid"/>
          </a:ln>
        </p:spPr>
        <p:txBody>
          <a:bodyPr/>
          <a:lstStyle/>
          <a:p>
            <a:endParaRPr lang="en-US"/>
          </a:p>
        </p:txBody>
      </p:sp>
      <p:sp>
        <p:nvSpPr>
          <p:cNvPr id="11" name="Text 9"/>
          <p:cNvSpPr/>
          <p:nvPr/>
        </p:nvSpPr>
        <p:spPr>
          <a:xfrm>
            <a:off x="777240" y="3666744"/>
            <a:ext cx="7680960" cy="256032"/>
          </a:xfrm>
          <a:prstGeom prst="rect">
            <a:avLst/>
          </a:prstGeom>
          <a:noFill/>
          <a:ln/>
        </p:spPr>
        <p:txBody>
          <a:bodyPr wrap="square" lIns="0" tIns="0" rIns="0" bIns="0" rtlCol="0" anchor="ctr"/>
          <a:lstStyle/>
          <a:p>
            <a:pPr marL="0" indent="0">
              <a:buNone/>
            </a:pPr>
            <a:r>
              <a:rPr lang="en-US" sz="1000" b="1" kern="0" spc="200" dirty="0">
                <a:solidFill>
                  <a:srgbClr val="1B4F9C"/>
                </a:solidFill>
                <a:latin typeface="Segoe UI" pitchFamily="34" charset="0"/>
                <a:ea typeface="Segoe UI" pitchFamily="34" charset="-122"/>
                <a:cs typeface="Segoe UI" pitchFamily="34" charset="-120"/>
              </a:rPr>
              <a:t>TRY THIS PROMPT</a:t>
            </a:r>
            <a:endParaRPr lang="en-US" sz="1000" dirty="0"/>
          </a:p>
        </p:txBody>
      </p:sp>
      <p:sp>
        <p:nvSpPr>
          <p:cNvPr id="12" name="Text 10"/>
          <p:cNvSpPr/>
          <p:nvPr/>
        </p:nvSpPr>
        <p:spPr>
          <a:xfrm>
            <a:off x="777240" y="3941064"/>
            <a:ext cx="7680960" cy="585216"/>
          </a:xfrm>
          <a:prstGeom prst="rect">
            <a:avLst/>
          </a:prstGeom>
          <a:noFill/>
          <a:ln/>
        </p:spPr>
        <p:txBody>
          <a:bodyPr wrap="square" lIns="0" tIns="0" rIns="0" bIns="0" rtlCol="0" anchor="t"/>
          <a:lstStyle/>
          <a:p>
            <a:pPr marL="0" indent="0">
              <a:buNone/>
            </a:pPr>
            <a:r>
              <a:rPr lang="en-US" sz="1350" i="1" dirty="0">
                <a:solidFill>
                  <a:srgbClr val="0B2545"/>
                </a:solidFill>
                <a:latin typeface="Segoe UI" pitchFamily="34" charset="0"/>
                <a:ea typeface="Segoe UI" pitchFamily="34" charset="-122"/>
                <a:cs typeface="Segoe UI" pitchFamily="34" charset="-120"/>
              </a:rPr>
              <a:t>“Find the most recent version of our onboarding policy in the HR site, summarize what changed from the previous version, and list which teams are affected.”</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47472"/>
            <a:ext cx="8046720" cy="640080"/>
          </a:xfrm>
          <a:prstGeom prst="rect">
            <a:avLst/>
          </a:prstGeom>
          <a:noFill/>
          <a:ln/>
        </p:spPr>
        <p:txBody>
          <a:bodyPr wrap="square" lIns="0" tIns="0" rIns="0" bIns="0" rtlCol="0" anchor="ctr"/>
          <a:lstStyle/>
          <a:p>
            <a:pPr marL="0" indent="0">
              <a:buNone/>
            </a:pPr>
            <a:r>
              <a:rPr lang="en-US" sz="2800" b="1" dirty="0">
                <a:solidFill>
                  <a:srgbClr val="0B2545"/>
                </a:solidFill>
                <a:latin typeface="Segoe UI" pitchFamily="34" charset="0"/>
                <a:ea typeface="Segoe UI" pitchFamily="34" charset="-122"/>
                <a:cs typeface="Segoe UI" pitchFamily="34" charset="-120"/>
              </a:rPr>
              <a:t>Module 8: OneNote</a:t>
            </a:r>
            <a:endParaRPr lang="en-US" sz="2800" dirty="0"/>
          </a:p>
        </p:txBody>
      </p:sp>
      <p:sp>
        <p:nvSpPr>
          <p:cNvPr id="3" name="rule">
            <a:extLst>
              <a:ext uri="{C183D7F6-B498-43B3-948B-1728B52AA6E4}">
                <adec:decorative xmlns:adec="http://schemas.microsoft.com/office/drawing/2017/decorative" val="1"/>
              </a:ext>
            </a:extLst>
          </p:cNvPr>
          <p:cNvSpPr/>
          <p:nvPr/>
        </p:nvSpPr>
        <p:spPr>
          <a:xfrm>
            <a:off x="548640" y="1024128"/>
            <a:ext cx="1005840" cy="41148"/>
          </a:xfrm>
          <a:prstGeom prst="rect">
            <a:avLst/>
          </a:prstGeom>
          <a:solidFill>
            <a:srgbClr val="00A3E0"/>
          </a:solidFill>
          <a:ln w="12700">
            <a:solidFill>
              <a:srgbClr val="00A3E0"/>
            </a:solidFill>
            <a:prstDash val="solid"/>
          </a:ln>
        </p:spPr>
        <p:txBody>
          <a:bodyPr/>
          <a:lstStyle/>
          <a:p>
            <a:endParaRPr lang="en-US"/>
          </a:p>
        </p:txBody>
      </p:sp>
      <p:sp>
        <p:nvSpPr>
          <p:cNvPr id="4" name="Text 2"/>
          <p:cNvSpPr/>
          <p:nvPr/>
        </p:nvSpPr>
        <p:spPr>
          <a:xfrm>
            <a:off x="548640" y="1097280"/>
            <a:ext cx="8046720" cy="320040"/>
          </a:xfrm>
          <a:prstGeom prst="rect">
            <a:avLst/>
          </a:prstGeom>
          <a:noFill/>
          <a:ln/>
        </p:spPr>
        <p:txBody>
          <a:bodyPr wrap="square" lIns="0" tIns="0" rIns="0" bIns="0" rtlCol="0" anchor="ctr"/>
          <a:lstStyle/>
          <a:p>
            <a:pPr marL="0" indent="0">
              <a:buNone/>
            </a:pPr>
            <a:r>
              <a:rPr lang="en-US" sz="1300" i="1" dirty="0">
                <a:solidFill>
                  <a:srgbClr val="5A6B7B"/>
                </a:solidFill>
                <a:latin typeface="Segoe UI" pitchFamily="34" charset="0"/>
                <a:ea typeface="Segoe UI" pitchFamily="34" charset="-122"/>
                <a:cs typeface="Segoe UI" pitchFamily="34" charset="-120"/>
              </a:rPr>
              <a:t>Personal knowledge &amp; notes</a:t>
            </a:r>
            <a:endParaRPr lang="en-US" sz="1300" dirty="0"/>
          </a:p>
        </p:txBody>
      </p:sp>
      <p:sp>
        <p:nvSpPr>
          <p:cNvPr id="5" name="Text 3"/>
          <p:cNvSpPr/>
          <p:nvPr/>
        </p:nvSpPr>
        <p:spPr>
          <a:xfrm>
            <a:off x="685800" y="1554480"/>
            <a:ext cx="7863840" cy="1554480"/>
          </a:xfrm>
          <a:prstGeom prst="rect">
            <a:avLst/>
          </a:prstGeom>
          <a:noFill/>
          <a:ln/>
        </p:spPr>
        <p:txBody>
          <a:bodyPr wrap="square" rtlCol="0" anchor="t"/>
          <a:lstStyle/>
          <a:p>
            <a:pPr marL="342900" indent="-342900">
              <a:spcAft>
                <a:spcPts val="800"/>
              </a:spcAft>
              <a:buSzPct val="100000"/>
              <a:buChar char="•"/>
            </a:pPr>
            <a:r>
              <a:rPr lang="en-US" sz="1500" dirty="0">
                <a:solidFill>
                  <a:srgbClr val="26303B"/>
                </a:solidFill>
                <a:latin typeface="Segoe UI" pitchFamily="34" charset="0"/>
                <a:ea typeface="Segoe UI" pitchFamily="34" charset="-122"/>
                <a:cs typeface="Segoe UI" pitchFamily="34" charset="-120"/>
              </a:rPr>
              <a:t>Search across all of your notebooks</a:t>
            </a:r>
            <a:endParaRPr lang="en-US" sz="1500" dirty="0"/>
          </a:p>
          <a:p>
            <a:pPr marL="342900" indent="-342900">
              <a:spcAft>
                <a:spcPts val="800"/>
              </a:spcAft>
              <a:buSzPct val="100000"/>
              <a:buChar char="•"/>
            </a:pPr>
            <a:r>
              <a:rPr lang="en-US" sz="1500" dirty="0">
                <a:solidFill>
                  <a:srgbClr val="26303B"/>
                </a:solidFill>
                <a:latin typeface="Segoe UI" pitchFamily="34" charset="0"/>
                <a:ea typeface="Segoe UI" pitchFamily="34" charset="-122"/>
                <a:cs typeface="Segoe UI" pitchFamily="34" charset="-120"/>
              </a:rPr>
              <a:t>Summarize notes from meetings and research</a:t>
            </a:r>
            <a:endParaRPr lang="en-US" sz="1500" dirty="0"/>
          </a:p>
          <a:p>
            <a:pPr marL="342900" indent="-342900">
              <a:spcAft>
                <a:spcPts val="800"/>
              </a:spcAft>
              <a:buSzPct val="100000"/>
              <a:buChar char="•"/>
            </a:pPr>
            <a:r>
              <a:rPr lang="en-US" sz="1500" dirty="0">
                <a:solidFill>
                  <a:srgbClr val="26303B"/>
                </a:solidFill>
                <a:latin typeface="Segoe UI" pitchFamily="34" charset="0"/>
                <a:ea typeface="Segoe UI" pitchFamily="34" charset="-122"/>
                <a:cs typeface="Segoe UI" pitchFamily="34" charset="-120"/>
              </a:rPr>
              <a:t>Extract key insights and follow-ups</a:t>
            </a:r>
            <a:endParaRPr lang="en-US" sz="1500" dirty="0"/>
          </a:p>
        </p:txBody>
      </p:sp>
      <p:sp>
        <p:nvSpPr>
          <p:cNvPr id="6" name="prompt card">
            <a:extLst>
              <a:ext uri="{C183D7F6-B498-43B3-948B-1728B52AA6E4}">
                <adec:decorative xmlns:adec="http://schemas.microsoft.com/office/drawing/2017/decorative" val="1"/>
              </a:ext>
            </a:extLst>
          </p:cNvPr>
          <p:cNvSpPr/>
          <p:nvPr/>
        </p:nvSpPr>
        <p:spPr>
          <a:xfrm>
            <a:off x="548640" y="3575304"/>
            <a:ext cx="8046720" cy="1042416"/>
          </a:xfrm>
          <a:prstGeom prst="rect">
            <a:avLst/>
          </a:prstGeom>
          <a:solidFill>
            <a:srgbClr val="F2F6FA"/>
          </a:solidFill>
          <a:ln w="12700">
            <a:solidFill>
              <a:srgbClr val="D6E3EF"/>
            </a:solidFill>
            <a:prstDash val="solid"/>
          </a:ln>
        </p:spPr>
        <p:txBody>
          <a:bodyPr/>
          <a:lstStyle/>
          <a:p>
            <a:endParaRPr lang="en-US"/>
          </a:p>
        </p:txBody>
      </p:sp>
      <p:sp>
        <p:nvSpPr>
          <p:cNvPr id="7" name="accent bar">
            <a:extLst>
              <a:ext uri="{C183D7F6-B498-43B3-948B-1728B52AA6E4}">
                <adec:decorative xmlns:adec="http://schemas.microsoft.com/office/drawing/2017/decorative" val="1"/>
              </a:ext>
            </a:extLst>
          </p:cNvPr>
          <p:cNvSpPr/>
          <p:nvPr/>
        </p:nvSpPr>
        <p:spPr>
          <a:xfrm>
            <a:off x="548640" y="3575304"/>
            <a:ext cx="73152" cy="1042416"/>
          </a:xfrm>
          <a:prstGeom prst="rect">
            <a:avLst/>
          </a:prstGeom>
          <a:solidFill>
            <a:srgbClr val="00A3E0"/>
          </a:solidFill>
          <a:ln w="12700">
            <a:solidFill>
              <a:srgbClr val="00A3E0"/>
            </a:solidFill>
            <a:prstDash val="solid"/>
          </a:ln>
        </p:spPr>
        <p:txBody>
          <a:bodyPr/>
          <a:lstStyle/>
          <a:p>
            <a:endParaRPr lang="en-US"/>
          </a:p>
        </p:txBody>
      </p:sp>
      <p:sp>
        <p:nvSpPr>
          <p:cNvPr id="8" name="Text 6"/>
          <p:cNvSpPr/>
          <p:nvPr/>
        </p:nvSpPr>
        <p:spPr>
          <a:xfrm>
            <a:off x="777240" y="3666744"/>
            <a:ext cx="7680960" cy="256032"/>
          </a:xfrm>
          <a:prstGeom prst="rect">
            <a:avLst/>
          </a:prstGeom>
          <a:noFill/>
          <a:ln/>
        </p:spPr>
        <p:txBody>
          <a:bodyPr wrap="square" lIns="0" tIns="0" rIns="0" bIns="0" rtlCol="0" anchor="ctr"/>
          <a:lstStyle/>
          <a:p>
            <a:pPr marL="0" indent="0">
              <a:buNone/>
            </a:pPr>
            <a:r>
              <a:rPr lang="en-US" sz="1000" b="1" kern="0" spc="200" dirty="0">
                <a:solidFill>
                  <a:srgbClr val="1B4F9C"/>
                </a:solidFill>
                <a:latin typeface="Segoe UI" pitchFamily="34" charset="0"/>
                <a:ea typeface="Segoe UI" pitchFamily="34" charset="-122"/>
                <a:cs typeface="Segoe UI" pitchFamily="34" charset="-120"/>
              </a:rPr>
              <a:t>TRY THIS PROMPT</a:t>
            </a:r>
            <a:endParaRPr lang="en-US" sz="1000" dirty="0"/>
          </a:p>
        </p:txBody>
      </p:sp>
      <p:sp>
        <p:nvSpPr>
          <p:cNvPr id="9" name="Text 7"/>
          <p:cNvSpPr/>
          <p:nvPr/>
        </p:nvSpPr>
        <p:spPr>
          <a:xfrm>
            <a:off x="777240" y="3941064"/>
            <a:ext cx="7680960" cy="585216"/>
          </a:xfrm>
          <a:prstGeom prst="rect">
            <a:avLst/>
          </a:prstGeom>
          <a:noFill/>
          <a:ln/>
        </p:spPr>
        <p:txBody>
          <a:bodyPr wrap="square" lIns="0" tIns="0" rIns="0" bIns="0" rtlCol="0" anchor="t"/>
          <a:lstStyle/>
          <a:p>
            <a:pPr marL="0" indent="0">
              <a:buNone/>
            </a:pPr>
            <a:r>
              <a:rPr lang="en-US" sz="1350" i="1" dirty="0">
                <a:solidFill>
                  <a:srgbClr val="0B2545"/>
                </a:solidFill>
                <a:latin typeface="Segoe UI" pitchFamily="34" charset="0"/>
                <a:ea typeface="Segoe UI" pitchFamily="34" charset="-122"/>
                <a:cs typeface="Segoe UI" pitchFamily="34" charset="-120"/>
              </a:rPr>
              <a:t>“Search my notebooks for notes about the budget planning meetings this quarter, summarize the key decisions, and list every follow-up item still assigned to me.”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47472"/>
            <a:ext cx="8046720" cy="640080"/>
          </a:xfrm>
          <a:prstGeom prst="rect">
            <a:avLst/>
          </a:prstGeom>
          <a:noFill/>
          <a:ln/>
        </p:spPr>
        <p:txBody>
          <a:bodyPr wrap="square" lIns="0" tIns="0" rIns="0" bIns="0" rtlCol="0" anchor="ctr"/>
          <a:lstStyle/>
          <a:p>
            <a:pPr marL="0" indent="0">
              <a:buNone/>
            </a:pPr>
            <a:r>
              <a:rPr lang="en-US" sz="2800" b="1" dirty="0">
                <a:solidFill>
                  <a:srgbClr val="0B2545"/>
                </a:solidFill>
                <a:latin typeface="Segoe UI" pitchFamily="34" charset="0"/>
                <a:ea typeface="Segoe UI" pitchFamily="34" charset="-122"/>
                <a:cs typeface="Segoe UI" pitchFamily="34" charset="-120"/>
              </a:rPr>
              <a:t>Key Insight</a:t>
            </a:r>
            <a:endParaRPr lang="en-US" sz="2800" dirty="0"/>
          </a:p>
        </p:txBody>
      </p:sp>
      <p:sp>
        <p:nvSpPr>
          <p:cNvPr id="3" name="rule">
            <a:extLst>
              <a:ext uri="{C183D7F6-B498-43B3-948B-1728B52AA6E4}">
                <adec:decorative xmlns:adec="http://schemas.microsoft.com/office/drawing/2017/decorative" val="1"/>
              </a:ext>
            </a:extLst>
          </p:cNvPr>
          <p:cNvSpPr/>
          <p:nvPr/>
        </p:nvSpPr>
        <p:spPr>
          <a:xfrm>
            <a:off x="548640" y="1024128"/>
            <a:ext cx="1005840" cy="41148"/>
          </a:xfrm>
          <a:prstGeom prst="rect">
            <a:avLst/>
          </a:prstGeom>
          <a:solidFill>
            <a:srgbClr val="00A3E0"/>
          </a:solidFill>
          <a:ln w="12700">
            <a:solidFill>
              <a:srgbClr val="00A3E0"/>
            </a:solidFill>
            <a:prstDash val="solid"/>
          </a:ln>
        </p:spPr>
        <p:txBody>
          <a:bodyPr/>
          <a:lstStyle/>
          <a:p>
            <a:endParaRPr lang="en-US"/>
          </a:p>
        </p:txBody>
      </p:sp>
      <p:sp>
        <p:nvSpPr>
          <p:cNvPr id="4" name="quote panel">
            <a:extLst>
              <a:ext uri="{C183D7F6-B498-43B3-948B-1728B52AA6E4}">
                <adec:decorative xmlns:adec="http://schemas.microsoft.com/office/drawing/2017/decorative" val="1"/>
              </a:ext>
            </a:extLst>
          </p:cNvPr>
          <p:cNvSpPr/>
          <p:nvPr/>
        </p:nvSpPr>
        <p:spPr>
          <a:xfrm>
            <a:off x="548640" y="1737360"/>
            <a:ext cx="8046720" cy="1737360"/>
          </a:xfrm>
          <a:prstGeom prst="rect">
            <a:avLst/>
          </a:prstGeom>
          <a:solidFill>
            <a:srgbClr val="0B2545"/>
          </a:solidFill>
          <a:ln w="12700">
            <a:solidFill>
              <a:srgbClr val="0B2545"/>
            </a:solidFill>
            <a:prstDash val="solid"/>
          </a:ln>
        </p:spPr>
        <p:txBody>
          <a:bodyPr/>
          <a:lstStyle/>
          <a:p>
            <a:endParaRPr lang="en-US"/>
          </a:p>
        </p:txBody>
      </p:sp>
      <p:sp>
        <p:nvSpPr>
          <p:cNvPr id="5" name="accent bar">
            <a:extLst>
              <a:ext uri="{C183D7F6-B498-43B3-948B-1728B52AA6E4}">
                <adec:decorative xmlns:adec="http://schemas.microsoft.com/office/drawing/2017/decorative" val="1"/>
              </a:ext>
            </a:extLst>
          </p:cNvPr>
          <p:cNvSpPr/>
          <p:nvPr/>
        </p:nvSpPr>
        <p:spPr>
          <a:xfrm>
            <a:off x="548640" y="1737360"/>
            <a:ext cx="91440" cy="1737360"/>
          </a:xfrm>
          <a:prstGeom prst="rect">
            <a:avLst/>
          </a:prstGeom>
          <a:solidFill>
            <a:srgbClr val="00A3E0"/>
          </a:solidFill>
          <a:ln w="12700">
            <a:solidFill>
              <a:srgbClr val="00A3E0"/>
            </a:solidFill>
            <a:prstDash val="solid"/>
          </a:ln>
        </p:spPr>
        <p:txBody>
          <a:bodyPr/>
          <a:lstStyle/>
          <a:p>
            <a:endParaRPr lang="en-US"/>
          </a:p>
        </p:txBody>
      </p:sp>
      <p:sp>
        <p:nvSpPr>
          <p:cNvPr id="6" name="Text 4"/>
          <p:cNvSpPr/>
          <p:nvPr/>
        </p:nvSpPr>
        <p:spPr>
          <a:xfrm>
            <a:off x="1005840" y="1965960"/>
            <a:ext cx="7223760" cy="82296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Copilot is only as powerful as your organization’s data hygiene.</a:t>
            </a:r>
            <a:endParaRPr lang="en-US" sz="2600" dirty="0"/>
          </a:p>
        </p:txBody>
      </p:sp>
      <p:sp>
        <p:nvSpPr>
          <p:cNvPr id="7" name="Text 5"/>
          <p:cNvSpPr/>
          <p:nvPr/>
        </p:nvSpPr>
        <p:spPr>
          <a:xfrm>
            <a:off x="1005840" y="2788920"/>
            <a:ext cx="7223760" cy="548640"/>
          </a:xfrm>
          <a:prstGeom prst="rect">
            <a:avLst/>
          </a:prstGeom>
          <a:noFill/>
          <a:ln/>
        </p:spPr>
        <p:txBody>
          <a:bodyPr wrap="square" lIns="0" tIns="0" rIns="0" bIns="0" rtlCol="0" anchor="ctr"/>
          <a:lstStyle/>
          <a:p>
            <a:pPr marL="0" indent="0">
              <a:buNone/>
            </a:pPr>
            <a:r>
              <a:rPr lang="en-US" sz="1400" dirty="0">
                <a:solidFill>
                  <a:srgbClr val="9FD4F0"/>
                </a:solidFill>
                <a:latin typeface="Segoe UI" pitchFamily="34" charset="0"/>
                <a:ea typeface="Segoe UI" pitchFamily="34" charset="-122"/>
                <a:cs typeface="Segoe UI" pitchFamily="34" charset="-120"/>
              </a:rPr>
              <a:t>Well-named files, current documents, and clear permissions determine the quality of every answer Copilot gives you.</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47472"/>
            <a:ext cx="8046720" cy="640080"/>
          </a:xfrm>
          <a:prstGeom prst="rect">
            <a:avLst/>
          </a:prstGeom>
          <a:noFill/>
          <a:ln/>
        </p:spPr>
        <p:txBody>
          <a:bodyPr wrap="square" lIns="0" tIns="0" rIns="0" bIns="0" rtlCol="0" anchor="ctr"/>
          <a:lstStyle/>
          <a:p>
            <a:pPr marL="0" indent="0">
              <a:buNone/>
            </a:pPr>
            <a:r>
              <a:rPr lang="en-US" sz="2800" b="1" dirty="0">
                <a:solidFill>
                  <a:srgbClr val="0B2545"/>
                </a:solidFill>
                <a:latin typeface="Segoe UI" pitchFamily="34" charset="0"/>
                <a:ea typeface="Segoe UI" pitchFamily="34" charset="-122"/>
                <a:cs typeface="Segoe UI" pitchFamily="34" charset="-120"/>
              </a:rPr>
              <a:t>Module 9: Wrap-Up</a:t>
            </a:r>
            <a:endParaRPr lang="en-US" sz="2800" dirty="0"/>
          </a:p>
        </p:txBody>
      </p:sp>
      <p:sp>
        <p:nvSpPr>
          <p:cNvPr id="3" name="rule">
            <a:extLst>
              <a:ext uri="{C183D7F6-B498-43B3-948B-1728B52AA6E4}">
                <adec:decorative xmlns:adec="http://schemas.microsoft.com/office/drawing/2017/decorative" val="1"/>
              </a:ext>
            </a:extLst>
          </p:cNvPr>
          <p:cNvSpPr/>
          <p:nvPr/>
        </p:nvSpPr>
        <p:spPr>
          <a:xfrm>
            <a:off x="548640" y="1024128"/>
            <a:ext cx="1005840" cy="41148"/>
          </a:xfrm>
          <a:prstGeom prst="rect">
            <a:avLst/>
          </a:prstGeom>
          <a:solidFill>
            <a:srgbClr val="00A3E0"/>
          </a:solidFill>
          <a:ln w="12700">
            <a:solidFill>
              <a:srgbClr val="00A3E0"/>
            </a:solidFill>
            <a:prstDash val="solid"/>
          </a:ln>
        </p:spPr>
        <p:txBody>
          <a:bodyPr/>
          <a:lstStyle/>
          <a:p>
            <a:endParaRPr lang="en-US"/>
          </a:p>
        </p:txBody>
      </p:sp>
      <p:sp>
        <p:nvSpPr>
          <p:cNvPr id="4" name="Text 2"/>
          <p:cNvSpPr/>
          <p:nvPr/>
        </p:nvSpPr>
        <p:spPr>
          <a:xfrm>
            <a:off x="548640" y="1097280"/>
            <a:ext cx="8046720" cy="320040"/>
          </a:xfrm>
          <a:prstGeom prst="rect">
            <a:avLst/>
          </a:prstGeom>
          <a:noFill/>
          <a:ln/>
        </p:spPr>
        <p:txBody>
          <a:bodyPr wrap="square" lIns="0" tIns="0" rIns="0" bIns="0" rtlCol="0" anchor="ctr"/>
          <a:lstStyle/>
          <a:p>
            <a:pPr marL="0" indent="0">
              <a:buNone/>
            </a:pPr>
            <a:r>
              <a:rPr lang="en-US" sz="1300" i="1" dirty="0">
                <a:solidFill>
                  <a:srgbClr val="5A6B7B"/>
                </a:solidFill>
                <a:latin typeface="Segoe UI" pitchFamily="34" charset="0"/>
                <a:ea typeface="Segoe UI" pitchFamily="34" charset="-122"/>
                <a:cs typeface="Segoe UI" pitchFamily="34" charset="-120"/>
              </a:rPr>
              <a:t>From basic usage to real productivity</a:t>
            </a:r>
            <a:endParaRPr lang="en-US" sz="1300" dirty="0"/>
          </a:p>
        </p:txBody>
      </p:sp>
      <p:sp>
        <p:nvSpPr>
          <p:cNvPr id="5" name="Text 3"/>
          <p:cNvSpPr/>
          <p:nvPr/>
        </p:nvSpPr>
        <p:spPr>
          <a:xfrm>
            <a:off x="685800" y="1554480"/>
            <a:ext cx="7863840" cy="1554480"/>
          </a:xfrm>
          <a:prstGeom prst="rect">
            <a:avLst/>
          </a:prstGeom>
          <a:noFill/>
          <a:ln/>
        </p:spPr>
        <p:txBody>
          <a:bodyPr wrap="square" rtlCol="0" anchor="t"/>
          <a:lstStyle/>
          <a:p>
            <a:pPr marL="342900" indent="-342900">
              <a:spcAft>
                <a:spcPts val="800"/>
              </a:spcAft>
              <a:buSzPct val="100000"/>
              <a:buChar char="•"/>
            </a:pPr>
            <a:r>
              <a:rPr lang="en-US" sz="1500" dirty="0">
                <a:solidFill>
                  <a:srgbClr val="26303B"/>
                </a:solidFill>
                <a:latin typeface="Segoe UI" pitchFamily="34" charset="0"/>
                <a:ea typeface="Segoe UI" pitchFamily="34" charset="-122"/>
                <a:cs typeface="Segoe UI" pitchFamily="34" charset="-120"/>
              </a:rPr>
              <a:t>Recap of prompt engineering fundamentals</a:t>
            </a:r>
            <a:endParaRPr lang="en-US" sz="1500" dirty="0"/>
          </a:p>
          <a:p>
            <a:pPr marL="342900" indent="-342900">
              <a:spcAft>
                <a:spcPts val="800"/>
              </a:spcAft>
              <a:buSzPct val="100000"/>
              <a:buChar char="•"/>
            </a:pPr>
            <a:r>
              <a:rPr lang="en-US" sz="1500" dirty="0">
                <a:solidFill>
                  <a:srgbClr val="26303B"/>
                </a:solidFill>
                <a:latin typeface="Segoe UI" pitchFamily="34" charset="0"/>
                <a:ea typeface="Segoe UI" pitchFamily="34" charset="-122"/>
                <a:cs typeface="Segoe UI" pitchFamily="34" charset="-120"/>
              </a:rPr>
              <a:t>Connecting workflows across apps</a:t>
            </a:r>
            <a:endParaRPr lang="en-US" sz="1500" dirty="0"/>
          </a:p>
          <a:p>
            <a:pPr marL="342900" indent="-342900">
              <a:spcAft>
                <a:spcPts val="800"/>
              </a:spcAft>
              <a:buSzPct val="100000"/>
              <a:buChar char="•"/>
            </a:pPr>
            <a:r>
              <a:rPr lang="en-US" sz="1500" dirty="0">
                <a:solidFill>
                  <a:srgbClr val="26303B"/>
                </a:solidFill>
                <a:latin typeface="Segoe UI" pitchFamily="34" charset="0"/>
                <a:ea typeface="Segoe UI" pitchFamily="34" charset="-122"/>
                <a:cs typeface="Segoe UI" pitchFamily="34" charset="-120"/>
              </a:rPr>
              <a:t>Building daily Copilot habits</a:t>
            </a:r>
            <a:endParaRPr lang="en-US" sz="1500" dirty="0"/>
          </a:p>
        </p:txBody>
      </p:sp>
      <p:sp>
        <p:nvSpPr>
          <p:cNvPr id="6" name="prompt card">
            <a:extLst>
              <a:ext uri="{C183D7F6-B498-43B3-948B-1728B52AA6E4}">
                <adec:decorative xmlns:adec="http://schemas.microsoft.com/office/drawing/2017/decorative" val="1"/>
              </a:ext>
            </a:extLst>
          </p:cNvPr>
          <p:cNvSpPr/>
          <p:nvPr/>
        </p:nvSpPr>
        <p:spPr>
          <a:xfrm>
            <a:off x="548640" y="3575304"/>
            <a:ext cx="8046720" cy="1042416"/>
          </a:xfrm>
          <a:prstGeom prst="rect">
            <a:avLst/>
          </a:prstGeom>
          <a:solidFill>
            <a:srgbClr val="F2F6FA"/>
          </a:solidFill>
          <a:ln w="12700">
            <a:solidFill>
              <a:srgbClr val="D6E3EF"/>
            </a:solidFill>
            <a:prstDash val="solid"/>
          </a:ln>
        </p:spPr>
        <p:txBody>
          <a:bodyPr/>
          <a:lstStyle/>
          <a:p>
            <a:endParaRPr lang="en-US"/>
          </a:p>
        </p:txBody>
      </p:sp>
      <p:sp>
        <p:nvSpPr>
          <p:cNvPr id="7" name="accent bar">
            <a:extLst>
              <a:ext uri="{C183D7F6-B498-43B3-948B-1728B52AA6E4}">
                <adec:decorative xmlns:adec="http://schemas.microsoft.com/office/drawing/2017/decorative" val="1"/>
              </a:ext>
            </a:extLst>
          </p:cNvPr>
          <p:cNvSpPr/>
          <p:nvPr/>
        </p:nvSpPr>
        <p:spPr>
          <a:xfrm>
            <a:off x="548640" y="3575304"/>
            <a:ext cx="73152" cy="1042416"/>
          </a:xfrm>
          <a:prstGeom prst="rect">
            <a:avLst/>
          </a:prstGeom>
          <a:solidFill>
            <a:srgbClr val="00A3E0"/>
          </a:solidFill>
          <a:ln w="12700">
            <a:solidFill>
              <a:srgbClr val="00A3E0"/>
            </a:solidFill>
            <a:prstDash val="solid"/>
          </a:ln>
        </p:spPr>
        <p:txBody>
          <a:bodyPr/>
          <a:lstStyle/>
          <a:p>
            <a:endParaRPr lang="en-US"/>
          </a:p>
        </p:txBody>
      </p:sp>
      <p:sp>
        <p:nvSpPr>
          <p:cNvPr id="8" name="Text 6"/>
          <p:cNvSpPr/>
          <p:nvPr/>
        </p:nvSpPr>
        <p:spPr>
          <a:xfrm>
            <a:off x="777240" y="3666744"/>
            <a:ext cx="7680960" cy="256032"/>
          </a:xfrm>
          <a:prstGeom prst="rect">
            <a:avLst/>
          </a:prstGeom>
          <a:noFill/>
          <a:ln/>
        </p:spPr>
        <p:txBody>
          <a:bodyPr wrap="square" lIns="0" tIns="0" rIns="0" bIns="0" rtlCol="0" anchor="ctr"/>
          <a:lstStyle/>
          <a:p>
            <a:pPr marL="0" indent="0">
              <a:buNone/>
            </a:pPr>
            <a:r>
              <a:rPr lang="en-US" sz="1000" b="1" kern="0" spc="200" dirty="0">
                <a:solidFill>
                  <a:srgbClr val="1B4F9C"/>
                </a:solidFill>
                <a:latin typeface="Segoe UI" pitchFamily="34" charset="0"/>
                <a:ea typeface="Segoe UI" pitchFamily="34" charset="-122"/>
                <a:cs typeface="Segoe UI" pitchFamily="34" charset="-120"/>
              </a:rPr>
              <a:t>TRY THIS PROMPT</a:t>
            </a:r>
            <a:endParaRPr lang="en-US" sz="1000" dirty="0"/>
          </a:p>
        </p:txBody>
      </p:sp>
      <p:sp>
        <p:nvSpPr>
          <p:cNvPr id="9" name="Text 7"/>
          <p:cNvSpPr/>
          <p:nvPr/>
        </p:nvSpPr>
        <p:spPr>
          <a:xfrm>
            <a:off x="777240" y="3941064"/>
            <a:ext cx="7680960" cy="585216"/>
          </a:xfrm>
          <a:prstGeom prst="rect">
            <a:avLst/>
          </a:prstGeom>
          <a:noFill/>
          <a:ln/>
        </p:spPr>
        <p:txBody>
          <a:bodyPr wrap="square" lIns="0" tIns="0" rIns="0" bIns="0" rtlCol="0" anchor="t"/>
          <a:lstStyle/>
          <a:p>
            <a:pPr marL="0" indent="0">
              <a:buNone/>
            </a:pPr>
            <a:r>
              <a:rPr lang="en-US" sz="1350" i="1" dirty="0">
                <a:solidFill>
                  <a:srgbClr val="0B2545"/>
                </a:solidFill>
                <a:latin typeface="Segoe UI" pitchFamily="34" charset="0"/>
                <a:ea typeface="Segoe UI" pitchFamily="34" charset="-122"/>
                <a:cs typeface="Segoe UI" pitchFamily="34" charset="-120"/>
              </a:rPr>
              <a:t>“Based on my role and the meetings on my calendar this week, suggest three daily Copilot habits I could start Monday, with a ready-to-use prompt for each.”</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1401</Words>
  <Application>Microsoft Office PowerPoint</Application>
  <PresentationFormat>On-screen Show (16:9)</PresentationFormat>
  <Paragraphs>180</Paragraphs>
  <Slides>15</Slides>
  <Notes>15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Aptos</vt:lpstr>
      <vt:lpstr>Arial</vt:lpstr>
      <vt:lpstr>Calibri</vt:lpstr>
      <vt:lpstr>Consolas</vt:lpstr>
      <vt:lpstr>Segoe UI</vt:lpstr>
      <vt:lpstr>Segoe UI Semibold</vt:lpstr>
      <vt:lpstr>Segoe UI Variable Display Semib</vt:lpstr>
      <vt:lpstr>SegoeUI</vt:lpstr>
      <vt:lpstr>Söhne</vt:lpstr>
      <vt:lpstr>Office Theme</vt:lpstr>
      <vt:lpstr>Copilot Basic</vt:lpstr>
      <vt:lpstr>Course Objective &amp; Audience</vt:lpstr>
      <vt:lpstr>Course Roadmap</vt:lpstr>
      <vt:lpstr>Module 1: Welcome &amp; Context</vt:lpstr>
      <vt:lpstr>Module 2: Building Effective Prompts</vt:lpstr>
      <vt:lpstr>Highlight key decisions and actions from Teams meetings</vt:lpstr>
      <vt:lpstr>Copilot Prompt Gallery</vt:lpstr>
      <vt:lpstr>Module 3: Outlook + Teams</vt:lpstr>
      <vt:lpstr>Module 4: Word</vt:lpstr>
      <vt:lpstr>Module 5: PowerPoint</vt:lpstr>
      <vt:lpstr>Module 6: Excel</vt:lpstr>
      <vt:lpstr>Module 7: OneDrive &amp; SharePoint</vt:lpstr>
      <vt:lpstr>Module 8: OneNote</vt:lpstr>
      <vt:lpstr>Key Insight</vt:lpstr>
      <vt:lpstr>Module 9: Wrap-Up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Dwayne Natwick</dc:creator>
  <cp:lastModifiedBy>Dwayne Natwick</cp:lastModifiedBy>
  <cp:revision>1</cp:revision>
  <dcterms:created xsi:type="dcterms:W3CDTF">2026-08-13T15:20:26Z</dcterms:created>
  <dcterms:modified xsi:type="dcterms:W3CDTF">2026-08-18T15:35:46Z</dcterms:modified>
</cp:coreProperties>
</file>